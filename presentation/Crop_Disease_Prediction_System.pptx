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5259274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COMPUTER VISION · PYTORCH · STREAMLIT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6766560" cy="2377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D2B1F"/>
                </a:solidFill>
                <a:latin typeface="Georgia"/>
              </a:rPr>
              <a:t>Crop Disease</a:t>
            </a:r>
          </a:p>
          <a:p>
            <a:pPr algn="l">
              <a:lnSpc>
                <a:spcPct val="100000"/>
              </a:lnSpc>
            </a:pPr>
            <a:r>
              <a:rPr sz="4800" b="1">
                <a:solidFill>
                  <a:srgbClr val="1D2B1F"/>
                </a:solidFill>
                <a:latin typeface="Georgia"/>
              </a:rPr>
              <a:t>Prediction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20440"/>
            <a:ext cx="612648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3A4A3C"/>
                </a:solidFill>
                <a:latin typeface="Segoe UI"/>
              </a:rPr>
              <a:t>Upload a photo of a leaf. In under a second, get the disease name and a treatment plan written in Hindi — an end-to-end pipeline built for smallholder farmers.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920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5B6B5D"/>
                </a:solidFill>
                <a:latin typeface="Segoe UI"/>
              </a:rPr>
              <a:t>Saksham Agrawal   ·   </a:t>
            </a:r>
            <a:r>
              <a:rPr sz="1250" b="0">
                <a:solidFill>
                  <a:srgbClr val="5B6B5D"/>
                </a:solidFill>
                <a:latin typeface="Segoe UI"/>
              </a:rPr>
              <a:t>Project walkthrough   ·   </a:t>
            </a:r>
            <a:r>
              <a:rPr sz="1250" b="0">
                <a:solidFill>
                  <a:srgbClr val="5B6B5D"/>
                </a:solidFill>
                <a:latin typeface="Segoe UI"/>
              </a:rPr>
              <a:t>August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32420" y="1303020"/>
            <a:ext cx="3794760" cy="4434840"/>
          </a:xfrm>
          <a:prstGeom prst="roundRect">
            <a:avLst>
              <a:gd name="adj" fmla="val 6000"/>
            </a:avLst>
          </a:prstGeom>
          <a:solidFill>
            <a:srgbClr val="1D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18120" y="1188720"/>
            <a:ext cx="3794760" cy="443484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ome_p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848" y="2288857"/>
            <a:ext cx="3575304" cy="22345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263640"/>
            <a:ext cx="82296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5D"/>
                </a:solidFill>
                <a:latin typeface="Segoe UI"/>
              </a:rPr>
              <a:t>A 31-slide walkthrough, including every plot from the model benchmark notebook.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48640"/>
            <a:ext cx="2014629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115568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D2B1F"/>
                </a:solidFill>
                <a:latin typeface="Georgia"/>
              </a:rPr>
              <a:t>A sick leaf is a race against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1042416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3A4A3C"/>
                </a:solidFill>
                <a:latin typeface="Segoe UI"/>
              </a:rPr>
              <a:t>Fungal and bacterial leaf diseases spread through a field in days. By the time symptoms are unmistakable to the eye, treatment options have narrowed — and most farmers don’t have an agronomist on call. They have a phone.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88036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26664"/>
            <a:ext cx="32461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2B1F"/>
                </a:solidFill>
                <a:latin typeface="Segoe UI"/>
              </a:rPr>
              <a:t>Manual inspection doesn't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47288"/>
            <a:ext cx="3246120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A4A3C"/>
                </a:solidFill>
                <a:latin typeface="Segoe UI"/>
              </a:rPr>
              <a:t>A few visible spots on one leaf can mean a field-wide infection is already underway by the time it's noticed.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288036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3026664"/>
            <a:ext cx="32461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2B1F"/>
                </a:solidFill>
                <a:latin typeface="Segoe UI"/>
              </a:rPr>
              <a:t>Expert advice is hard to reach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3447288"/>
            <a:ext cx="3246120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A4A3C"/>
                </a:solidFill>
                <a:latin typeface="Segoe UI"/>
              </a:rPr>
              <a:t>Agricultural extension officers cover hundreds of farms. A photo travels faster than a visit ever can.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288036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3026664"/>
            <a:ext cx="32461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2B1F"/>
                </a:solidFill>
                <a:latin typeface="Segoe UI"/>
              </a:rPr>
              <a:t>Generic advice wastes chemicals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3447288"/>
            <a:ext cx="3246120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A4A3C"/>
                </a:solidFill>
                <a:latin typeface="Segoe UI"/>
              </a:rPr>
              <a:t>The right fungicide depends on the exact disease — not just a vague sense that “something is wrong.”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9120" y="4968240"/>
            <a:ext cx="11155680" cy="1051560"/>
          </a:xfrm>
          <a:prstGeom prst="roundRect">
            <a:avLst>
              <a:gd name="adj" fmla="val 10000"/>
            </a:avLst>
          </a:prstGeom>
          <a:solidFill>
            <a:srgbClr val="1D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4892040"/>
            <a:ext cx="11155680" cy="1051560"/>
          </a:xfrm>
          <a:prstGeom prst="roundRect">
            <a:avLst>
              <a:gd name="adj" fmla="val 10000"/>
            </a:avLst>
          </a:prstGeom>
          <a:solidFill>
            <a:srgbClr val="BFEA4B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4807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D2B1F"/>
                </a:solidFill>
                <a:latin typeface="Segoe UI"/>
              </a:rPr>
              <a:t>Goal — </a:t>
            </a:r>
            <a:r>
              <a:rPr sz="1550" b="0">
                <a:solidFill>
                  <a:srgbClr val="1D2B1F"/>
                </a:solidFill>
                <a:latin typeface="Segoe UI"/>
              </a:rPr>
              <a:t>turn one leaf photo into an instant, specific diagnosis and a locally-relevant treatment plan, in the farmer’s own language.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INTRODUCTION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02 / 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48640"/>
            <a:ext cx="1884843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115568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D2B1F"/>
                </a:solidFill>
                <a:latin typeface="Georgia"/>
              </a:rPr>
              <a:t>What we built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7920" y="2010960"/>
            <a:ext cx="3611880" cy="2011680"/>
          </a:xfrm>
          <a:prstGeom prst="roundRect">
            <a:avLst>
              <a:gd name="adj" fmla="val 14000"/>
            </a:avLst>
          </a:prstGeom>
          <a:solidFill>
            <a:srgbClr val="1D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3611880" cy="2011680"/>
          </a:xfrm>
          <a:prstGeom prst="roundRect">
            <a:avLst>
              <a:gd name="adj" fmla="val 140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112264"/>
            <a:ext cx="3282696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2B1F"/>
                </a:solidFill>
                <a:latin typeface="Segoe UI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374136"/>
            <a:ext cx="3282696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5B6B5D"/>
                </a:solidFill>
                <a:latin typeface="Segoe UI"/>
              </a:rPr>
              <a:t>disease classes across</a:t>
            </a:r>
          </a:p>
          <a:p>
            <a:pPr algn="l">
              <a:lnSpc>
                <a:spcPct val="110000"/>
              </a:lnSpc>
            </a:pPr>
            <a:r>
              <a:rPr sz="1050" b="1">
                <a:solidFill>
                  <a:srgbClr val="5B6B5D"/>
                </a:solidFill>
                <a:latin typeface="Segoe UI"/>
              </a:rPr>
              <a:t>14 crop species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248" y="2010960"/>
            <a:ext cx="3611880" cy="2011680"/>
          </a:xfrm>
          <a:prstGeom prst="roundRect">
            <a:avLst>
              <a:gd name="adj" fmla="val 14000"/>
            </a:avLst>
          </a:prstGeom>
          <a:solidFill>
            <a:srgbClr val="1D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70248" y="1965960"/>
            <a:ext cx="3611880" cy="2011680"/>
          </a:xfrm>
          <a:prstGeom prst="roundRect">
            <a:avLst>
              <a:gd name="adj" fmla="val 140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112264"/>
            <a:ext cx="3282696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2B1F"/>
                </a:solidFill>
                <a:latin typeface="Segoe UI"/>
              </a:rPr>
              <a:t>87,900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374136"/>
            <a:ext cx="3282696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5B6B5D"/>
                </a:solidFill>
                <a:latin typeface="Segoe UI"/>
              </a:rPr>
              <a:t>labelled leaf images in the</a:t>
            </a:r>
          </a:p>
          <a:p>
            <a:pPr algn="l">
              <a:lnSpc>
                <a:spcPct val="110000"/>
              </a:lnSpc>
            </a:pPr>
            <a:r>
              <a:rPr sz="1050" b="1">
                <a:solidFill>
                  <a:srgbClr val="5B6B5D"/>
                </a:solidFill>
                <a:latin typeface="Segoe UI"/>
              </a:rPr>
              <a:t>training corpus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2576" y="2010960"/>
            <a:ext cx="3611880" cy="2011680"/>
          </a:xfrm>
          <a:prstGeom prst="roundRect">
            <a:avLst>
              <a:gd name="adj" fmla="val 14000"/>
            </a:avLst>
          </a:prstGeom>
          <a:solidFill>
            <a:srgbClr val="1D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37576" y="1965960"/>
            <a:ext cx="3611880" cy="2011680"/>
          </a:xfrm>
          <a:prstGeom prst="roundRect">
            <a:avLst>
              <a:gd name="adj" fmla="val 140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2112264"/>
            <a:ext cx="3282696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2B1F"/>
                </a:solidFill>
                <a:latin typeface="Segoe UI"/>
              </a:rPr>
              <a:t>94.59%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3374136"/>
            <a:ext cx="3282696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5B6B5D"/>
                </a:solidFill>
                <a:latin typeface="Segoe UI"/>
              </a:rPr>
              <a:t>macro-F1 — the metric that</a:t>
            </a:r>
          </a:p>
          <a:p>
            <a:pPr algn="l">
              <a:lnSpc>
                <a:spcPct val="110000"/>
              </a:lnSpc>
            </a:pPr>
            <a:r>
              <a:rPr sz="1050" b="1">
                <a:solidFill>
                  <a:srgbClr val="5B6B5D"/>
                </a:solidFill>
                <a:latin typeface="Segoe UI"/>
              </a:rPr>
              <a:t>crowned it the winner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7920" y="4205520"/>
            <a:ext cx="3611880" cy="2011680"/>
          </a:xfrm>
          <a:prstGeom prst="roundRect">
            <a:avLst>
              <a:gd name="adj" fmla="val 14000"/>
            </a:avLst>
          </a:prstGeom>
          <a:solidFill>
            <a:srgbClr val="1D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4160520"/>
            <a:ext cx="3611880" cy="2011680"/>
          </a:xfrm>
          <a:prstGeom prst="roundRect">
            <a:avLst>
              <a:gd name="adj" fmla="val 140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4306824"/>
            <a:ext cx="3282696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2B1F"/>
                </a:solidFill>
                <a:latin typeface="Segoe UI"/>
              </a:rPr>
              <a:t>95.51%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5568696"/>
            <a:ext cx="3282696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5B6B5D"/>
                </a:solidFill>
                <a:latin typeface="Segoe UI"/>
              </a:rPr>
              <a:t>test accuracy in the independent</a:t>
            </a:r>
          </a:p>
          <a:p>
            <a:pPr algn="l">
              <a:lnSpc>
                <a:spcPct val="110000"/>
              </a:lnSpc>
            </a:pPr>
            <a:r>
              <a:rPr sz="1050" b="1">
                <a:solidFill>
                  <a:srgbClr val="5B6B5D"/>
                </a:solidFill>
                <a:latin typeface="Segoe UI"/>
              </a:rPr>
              <a:t>architecture benchmark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248" y="4205520"/>
            <a:ext cx="3611880" cy="2011680"/>
          </a:xfrm>
          <a:prstGeom prst="roundRect">
            <a:avLst>
              <a:gd name="adj" fmla="val 14000"/>
            </a:avLst>
          </a:prstGeom>
          <a:solidFill>
            <a:srgbClr val="1D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70248" y="4160520"/>
            <a:ext cx="3611880" cy="2011680"/>
          </a:xfrm>
          <a:prstGeom prst="roundRect">
            <a:avLst>
              <a:gd name="adj" fmla="val 140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306824"/>
            <a:ext cx="3282696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2B1F"/>
                </a:solidFill>
                <a:latin typeface="Sego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5568696"/>
            <a:ext cx="3282696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5B6B5D"/>
                </a:solidFill>
                <a:latin typeface="Segoe UI"/>
              </a:rPr>
              <a:t>candidate architectures — Custom</a:t>
            </a:r>
          </a:p>
          <a:p>
            <a:pPr algn="l">
              <a:lnSpc>
                <a:spcPct val="110000"/>
              </a:lnSpc>
            </a:pPr>
            <a:r>
              <a:rPr sz="1050" b="1">
                <a:solidFill>
                  <a:srgbClr val="5B6B5D"/>
                </a:solidFill>
                <a:latin typeface="Segoe UI"/>
              </a:rPr>
              <a:t>CNN &amp; EfficientNetB3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2576" y="4205520"/>
            <a:ext cx="3611880" cy="2011680"/>
          </a:xfrm>
          <a:prstGeom prst="roundRect">
            <a:avLst>
              <a:gd name="adj" fmla="val 14000"/>
            </a:avLst>
          </a:prstGeom>
          <a:solidFill>
            <a:srgbClr val="1D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37576" y="4160520"/>
            <a:ext cx="3611880" cy="2011680"/>
          </a:xfrm>
          <a:prstGeom prst="roundRect">
            <a:avLst>
              <a:gd name="adj" fmla="val 140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02168" y="4306824"/>
            <a:ext cx="3282696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2B1F"/>
                </a:solidFill>
                <a:latin typeface="Segoe UI"/>
              </a:rPr>
              <a:t>हिं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8" y="5568696"/>
            <a:ext cx="3282696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5B6B5D"/>
                </a:solidFill>
                <a:latin typeface="Segoe UI"/>
              </a:rPr>
              <a:t>treatment guidance written in</a:t>
            </a:r>
          </a:p>
          <a:p>
            <a:pPr algn="l">
              <a:lnSpc>
                <a:spcPct val="110000"/>
              </a:lnSpc>
            </a:pPr>
            <a:r>
              <a:rPr sz="1050" b="1">
                <a:solidFill>
                  <a:srgbClr val="5B6B5D"/>
                </a:solidFill>
                <a:latin typeface="Segoe UI"/>
              </a:rPr>
              <a:t>Hindi, for every 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AT A GLANCE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03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48640"/>
            <a:ext cx="3182701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METHODOLOGY ·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115568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D2B1F"/>
                </a:solidFill>
                <a:latin typeface="Georgia"/>
              </a:rPr>
              <a:t>87,900 leaf photos, 38 diagnoses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060704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3A4A3C"/>
                </a:solidFill>
                <a:latin typeface="Segoe UI"/>
              </a:rPr>
              <a:t>Training data is the augmented PlantVillage corpus — laboratory photos of single leaves, isolated on a plain background, spanning 14 crop species from apple to tomato. The split below is the one documented on the app's own About page.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7920" y="2651040"/>
            <a:ext cx="3611880" cy="1051560"/>
          </a:xfrm>
          <a:prstGeom prst="roundRect">
            <a:avLst>
              <a:gd name="adj" fmla="val 14000"/>
            </a:avLst>
          </a:prstGeom>
          <a:solidFill>
            <a:srgbClr val="1D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3611880" cy="1051560"/>
          </a:xfrm>
          <a:prstGeom prst="roundRect">
            <a:avLst>
              <a:gd name="adj" fmla="val 140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752344"/>
            <a:ext cx="3282696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2B1F"/>
                </a:solidFill>
                <a:latin typeface="Segoe UI"/>
              </a:rPr>
              <a:t>70,295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054096"/>
            <a:ext cx="3282696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5B6B5D"/>
                </a:solidFill>
                <a:latin typeface="Segoe UI"/>
              </a:rPr>
              <a:t>training images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248" y="2651040"/>
            <a:ext cx="3611880" cy="1051560"/>
          </a:xfrm>
          <a:prstGeom prst="roundRect">
            <a:avLst>
              <a:gd name="adj" fmla="val 14000"/>
            </a:avLst>
          </a:prstGeom>
          <a:solidFill>
            <a:srgbClr val="1D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70248" y="2606040"/>
            <a:ext cx="3611880" cy="1051560"/>
          </a:xfrm>
          <a:prstGeom prst="roundRect">
            <a:avLst>
              <a:gd name="adj" fmla="val 140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752344"/>
            <a:ext cx="3282696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2B1F"/>
                </a:solidFill>
                <a:latin typeface="Segoe UI"/>
              </a:rPr>
              <a:t>17,572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054096"/>
            <a:ext cx="3282696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5B6B5D"/>
                </a:solidFill>
                <a:latin typeface="Segoe UI"/>
              </a:rPr>
              <a:t>validation images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2576" y="2651040"/>
            <a:ext cx="3611880" cy="1051560"/>
          </a:xfrm>
          <a:prstGeom prst="roundRect">
            <a:avLst>
              <a:gd name="adj" fmla="val 14000"/>
            </a:avLst>
          </a:prstGeom>
          <a:solidFill>
            <a:srgbClr val="1D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37576" y="2606040"/>
            <a:ext cx="3611880" cy="1051560"/>
          </a:xfrm>
          <a:prstGeom prst="roundRect">
            <a:avLst>
              <a:gd name="adj" fmla="val 140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2752344"/>
            <a:ext cx="3282696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2B1F"/>
                </a:solidFill>
                <a:latin typeface="Segoe UI"/>
              </a:rPr>
              <a:t>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3054096"/>
            <a:ext cx="3282696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5B6B5D"/>
                </a:solidFill>
                <a:latin typeface="Segoe UI"/>
              </a:rPr>
              <a:t>held-out test images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977639"/>
            <a:ext cx="1316736" cy="141732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 w="15875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ppleCedarRus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4032503"/>
            <a:ext cx="969264" cy="9692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57784" y="5001767"/>
            <a:ext cx="1207008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760" b="1">
                <a:solidFill>
                  <a:srgbClr val="5B6B5D"/>
                </a:solidFill>
                <a:latin typeface="Segoe UI"/>
              </a:rPr>
              <a:t>Apple · Cedar rust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38528" y="3977639"/>
            <a:ext cx="1316736" cy="141732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 w="15875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AppleScab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264" y="4032503"/>
            <a:ext cx="969264" cy="9692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993392" y="5001767"/>
            <a:ext cx="1207008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760" b="1">
                <a:solidFill>
                  <a:srgbClr val="5B6B5D"/>
                </a:solidFill>
                <a:latin typeface="Segoe UI"/>
              </a:rPr>
              <a:t>Apple · Scab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74136" y="3977639"/>
            <a:ext cx="1316736" cy="141732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 w="15875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ornCommonRust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4032503"/>
            <a:ext cx="969264" cy="9692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429000" y="5001767"/>
            <a:ext cx="1207008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760" b="1">
                <a:solidFill>
                  <a:srgbClr val="5B6B5D"/>
                </a:solidFill>
                <a:latin typeface="Segoe UI"/>
              </a:rPr>
              <a:t>Corn · Common rust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9744" y="3977639"/>
            <a:ext cx="1316736" cy="141732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 w="15875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PotatoEarlyBlight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4032503"/>
            <a:ext cx="969264" cy="9692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864608" y="5001767"/>
            <a:ext cx="1207008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760" b="1">
                <a:solidFill>
                  <a:srgbClr val="5B6B5D"/>
                </a:solidFill>
                <a:latin typeface="Segoe UI"/>
              </a:rPr>
              <a:t>Potato · Early blight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5352" y="3977639"/>
            <a:ext cx="1316736" cy="141732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 w="15875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TomatoEarlyBlight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4032503"/>
            <a:ext cx="969264" cy="9692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00216" y="5001767"/>
            <a:ext cx="1207008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760" b="1">
                <a:solidFill>
                  <a:srgbClr val="5B6B5D"/>
                </a:solidFill>
                <a:latin typeface="Segoe UI"/>
              </a:rPr>
              <a:t>Tomato · Early blight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0" y="3977639"/>
            <a:ext cx="1316736" cy="141732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 w="15875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TomatoHealthy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4696" y="4032503"/>
            <a:ext cx="969264" cy="9692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735824" y="5001767"/>
            <a:ext cx="1207008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760" b="1">
                <a:solidFill>
                  <a:srgbClr val="5B6B5D"/>
                </a:solidFill>
                <a:latin typeface="Segoe UI"/>
              </a:rPr>
              <a:t>Tomato · Healthy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16568" y="3977639"/>
            <a:ext cx="1316736" cy="141732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 w="15875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TomatoYellowCurlVirus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0304" y="4032503"/>
            <a:ext cx="969264" cy="96926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171432" y="5001767"/>
            <a:ext cx="1207008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760" b="1">
                <a:solidFill>
                  <a:srgbClr val="5B6B5D"/>
                </a:solidFill>
                <a:latin typeface="Segoe UI"/>
              </a:rPr>
              <a:t>Tomato · Yellow curl virus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552176" y="3977639"/>
            <a:ext cx="1316736" cy="141732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 w="15875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trawberry-plant-leaf-spot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16861" y="4032503"/>
            <a:ext cx="987365" cy="96926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607040" y="5001767"/>
            <a:ext cx="1207008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760" b="1">
                <a:solidFill>
                  <a:srgbClr val="5B6B5D"/>
                </a:solidFill>
                <a:latin typeface="Segoe UI"/>
              </a:rPr>
              <a:t>Strawberry · Leaf scorch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806440"/>
            <a:ext cx="105156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5D"/>
                </a:solidFill>
                <a:latin typeface="Segoe UI"/>
              </a:rPr>
              <a:t>Note — lab photos on a plain background; see the honesty check near the end of this deck.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DATASET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04 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48640"/>
            <a:ext cx="1884843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115568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D2B1F"/>
                </a:solidFill>
                <a:latin typeface="Georgia"/>
              </a:rPr>
              <a:t>From raw photos to a shipped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77440"/>
            <a:ext cx="1417320" cy="192024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74904" y="2249424"/>
            <a:ext cx="292608" cy="292608"/>
          </a:xfrm>
          <a:prstGeom prst="ellipse">
            <a:avLst/>
          </a:prstGeom>
          <a:solidFill>
            <a:srgbClr val="F7F0E6"/>
          </a:solidFill>
          <a:ln w="15875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1D2B1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596896"/>
            <a:ext cx="1271016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D2B1F"/>
                </a:solidFill>
                <a:latin typeface="Segoe UI"/>
              </a:rPr>
              <a:t>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3063240"/>
            <a:ext cx="1271016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1D2B1F"/>
                </a:solidFill>
                <a:latin typeface="Segoe UI"/>
              </a:rPr>
              <a:t>87,900 leaf photos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1D2B1F"/>
                </a:solidFill>
                <a:latin typeface="Segoe UI"/>
              </a:rPr>
              <a:t>38 class folders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25980" y="2377440"/>
            <a:ext cx="1417320" cy="192024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97964" y="2249424"/>
            <a:ext cx="292608" cy="292608"/>
          </a:xfrm>
          <a:prstGeom prst="ellipse">
            <a:avLst/>
          </a:prstGeom>
          <a:solidFill>
            <a:srgbClr val="F7F0E6"/>
          </a:solidFill>
          <a:ln w="15875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1D2B1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9132" y="2596896"/>
            <a:ext cx="1271016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D2B1F"/>
                </a:solidFill>
                <a:latin typeface="Segoe UI"/>
              </a:rPr>
              <a:t>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9132" y="3063240"/>
            <a:ext cx="1271016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1D2B1F"/>
                </a:solidFill>
                <a:latin typeface="Segoe UI"/>
              </a:rPr>
              <a:t>integrity scan,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1D2B1F"/>
                </a:solidFill>
                <a:latin typeface="Segoe UI"/>
              </a:rPr>
              <a:t>dedupe, class EDA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40" y="2377440"/>
            <a:ext cx="1417320" cy="192024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2249424"/>
            <a:ext cx="292608" cy="292608"/>
          </a:xfrm>
          <a:prstGeom prst="ellipse">
            <a:avLst/>
          </a:prstGeom>
          <a:solidFill>
            <a:srgbClr val="F7F0E6"/>
          </a:solidFill>
          <a:ln w="15875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1D2B1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2" y="2596896"/>
            <a:ext cx="1271016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D2B1F"/>
                </a:solidFill>
                <a:latin typeface="Segoe UI"/>
              </a:rPr>
              <a:t>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2" y="3063240"/>
            <a:ext cx="1271016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1D2B1F"/>
                </a:solidFill>
                <a:latin typeface="Segoe UI"/>
              </a:rPr>
              <a:t>stratified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1D2B1F"/>
                </a:solidFill>
                <a:latin typeface="Segoe UI"/>
              </a:rPr>
              <a:t>70 / 15 / 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72100" y="2377440"/>
            <a:ext cx="1417320" cy="192024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44084" y="2249424"/>
            <a:ext cx="292608" cy="292608"/>
          </a:xfrm>
          <a:prstGeom prst="ellipse">
            <a:avLst/>
          </a:prstGeom>
          <a:solidFill>
            <a:srgbClr val="F7F0E6"/>
          </a:solidFill>
          <a:ln w="15875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1D2B1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5252" y="2596896"/>
            <a:ext cx="1271016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D2B1F"/>
                </a:solidFill>
                <a:latin typeface="Segoe UI"/>
              </a:rPr>
              <a:t>Augment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5252" y="3063240"/>
            <a:ext cx="1271016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1D2B1F"/>
                </a:solidFill>
                <a:latin typeface="Segoe UI"/>
              </a:rPr>
              <a:t>flip · rotate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1D2B1F"/>
                </a:solidFill>
                <a:latin typeface="Segoe UI"/>
              </a:rPr>
              <a:t>zoom (train only)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2377440"/>
            <a:ext cx="1417320" cy="192024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67144" y="2249424"/>
            <a:ext cx="292608" cy="292608"/>
          </a:xfrm>
          <a:prstGeom prst="ellipse">
            <a:avLst/>
          </a:prstGeom>
          <a:solidFill>
            <a:srgbClr val="F7F0E6"/>
          </a:solidFill>
          <a:ln w="15875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1D2B1F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2596896"/>
            <a:ext cx="1271016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D2B1F"/>
                </a:solidFill>
                <a:latin typeface="Segoe UI"/>
              </a:rPr>
              <a:t>Train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063240"/>
            <a:ext cx="1271016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1D2B1F"/>
                </a:solidFill>
                <a:latin typeface="Segoe UI"/>
              </a:rPr>
              <a:t>Adam +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1D2B1F"/>
                </a:solidFill>
                <a:latin typeface="Segoe UI"/>
              </a:rPr>
              <a:t>OneCycleLR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18220" y="2377440"/>
            <a:ext cx="1417320" cy="192024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90204" y="2249424"/>
            <a:ext cx="292608" cy="292608"/>
          </a:xfrm>
          <a:prstGeom prst="ellipse">
            <a:avLst/>
          </a:prstGeom>
          <a:solidFill>
            <a:srgbClr val="F7F0E6"/>
          </a:solidFill>
          <a:ln w="15875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1D2B1F"/>
                </a:solidFill>
                <a:latin typeface="Segoe U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1372" y="2596896"/>
            <a:ext cx="1271016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D2B1F"/>
                </a:solidFill>
                <a:latin typeface="Segoe UI"/>
              </a:rPr>
              <a:t>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91372" y="3063240"/>
            <a:ext cx="1271016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1D2B1F"/>
                </a:solidFill>
                <a:latin typeface="Segoe UI"/>
              </a:rPr>
              <a:t>accuracy · F1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1D2B1F"/>
                </a:solidFill>
                <a:latin typeface="Segoe UI"/>
              </a:rPr>
              <a:t>calibration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0" y="2377440"/>
            <a:ext cx="1417320" cy="1920240"/>
          </a:xfrm>
          <a:prstGeom prst="roundRect">
            <a:avLst>
              <a:gd name="adj" fmla="val 12000"/>
            </a:avLst>
          </a:prstGeom>
          <a:solidFill>
            <a:srgbClr val="BFEA4B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13264" y="2249424"/>
            <a:ext cx="292608" cy="292608"/>
          </a:xfrm>
          <a:prstGeom prst="ellipse">
            <a:avLst/>
          </a:prstGeom>
          <a:solidFill>
            <a:srgbClr val="BFEA4B"/>
          </a:solidFill>
          <a:ln w="15875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1D2B1F"/>
                </a:solidFill>
                <a:latin typeface="Segoe U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14432" y="2596896"/>
            <a:ext cx="1271016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D2B1F"/>
                </a:solidFill>
                <a:latin typeface="Segoe UI"/>
              </a:rPr>
              <a:t>Deploy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14432" y="3063240"/>
            <a:ext cx="1271016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1D2B1F"/>
                </a:solidFill>
                <a:latin typeface="Segoe UI"/>
              </a:rPr>
              <a:t>Streamlit +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1D2B1F"/>
                </a:solidFill>
                <a:latin typeface="Segoe UI"/>
              </a:rPr>
              <a:t>Hindi guidance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920240" y="3337560"/>
            <a:ext cx="205740" cy="0"/>
          </a:xfrm>
          <a:prstGeom prst="line">
            <a:avLst/>
          </a:prstGeom>
          <a:ln w="22225">
            <a:solidFill>
              <a:srgbClr val="1D2B1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543300" y="3337560"/>
            <a:ext cx="205740" cy="0"/>
          </a:xfrm>
          <a:prstGeom prst="line">
            <a:avLst/>
          </a:prstGeom>
          <a:ln w="22225">
            <a:solidFill>
              <a:srgbClr val="1D2B1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166360" y="3337560"/>
            <a:ext cx="205740" cy="0"/>
          </a:xfrm>
          <a:prstGeom prst="line">
            <a:avLst/>
          </a:prstGeom>
          <a:ln w="22225">
            <a:solidFill>
              <a:srgbClr val="1D2B1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789420" y="3337560"/>
            <a:ext cx="205740" cy="0"/>
          </a:xfrm>
          <a:prstGeom prst="line">
            <a:avLst/>
          </a:prstGeom>
          <a:ln w="22225">
            <a:solidFill>
              <a:srgbClr val="1D2B1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3337560"/>
            <a:ext cx="205740" cy="0"/>
          </a:xfrm>
          <a:prstGeom prst="line">
            <a:avLst/>
          </a:prstGeom>
          <a:ln w="22225">
            <a:solidFill>
              <a:srgbClr val="1D2B1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035540" y="3337560"/>
            <a:ext cx="205740" cy="0"/>
          </a:xfrm>
          <a:prstGeom prst="line">
            <a:avLst/>
          </a:prstGeom>
          <a:ln w="22225">
            <a:solidFill>
              <a:srgbClr val="1D2B1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2920" y="4709160"/>
            <a:ext cx="1115568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B6B5D"/>
                </a:solidFill>
                <a:latin typeface="Segoe UI"/>
              </a:rPr>
              <a:t>Raw PlantVillage photos are audited, stratified, augmented, and used to train a residual CNN, which is scored on a held-out set before being wrapped in the Streamlit app a farmer actually opens.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METHODOLOGY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05 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48640"/>
            <a:ext cx="2663558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MODEL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115568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D2B1F"/>
                </a:solidFill>
                <a:latin typeface="Georgia"/>
              </a:rPr>
              <a:t>Two candidate architectures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920" y="1843080"/>
            <a:ext cx="5440680" cy="4434840"/>
          </a:xfrm>
          <a:prstGeom prst="roundRect">
            <a:avLst>
              <a:gd name="adj" fmla="val 4500"/>
            </a:avLst>
          </a:prstGeom>
          <a:solidFill>
            <a:srgbClr val="1D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440680" cy="4434840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002536"/>
            <a:ext cx="2495774" cy="292608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 w="1397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  <a:r>
              <a:rPr sz="950" b="1">
                <a:solidFill>
                  <a:srgbClr val="1D2B1F"/>
                </a:solidFill>
                <a:latin typeface="Segoe UI"/>
              </a:rPr>
              <a:t>What the app is built around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404872"/>
            <a:ext cx="4928616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D2B1F"/>
                </a:solidFill>
                <a:latin typeface="Georgia"/>
              </a:rPr>
              <a:t>Custom CNN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926080"/>
            <a:ext cx="4928616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4A3C"/>
                </a:solidFill>
                <a:latin typeface="Segoe UI"/>
              </a:rPr>
              <a:t>Framework: TensorFlow/Keras  ·  Input: 224×224 RGB  ·  Output: softmax 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429000"/>
            <a:ext cx="4928616" cy="1417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4A3C"/>
                </a:solidFill>
                <a:latin typeface="Segoe UI"/>
              </a:rPr>
              <a:t>Six conv blocks (64→128→128→256→512→512 filters), each two Conv2D(3×3) + BatchNorm, then max-pooled → Flatten → Dense(256) → Dense(64) → Dropout(0.3) → softmax. ~10.9M parameters, all trained from scratch.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937760"/>
            <a:ext cx="4928616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4A3C"/>
                </a:solidFill>
                <a:latin typeface="Segoe UI"/>
              </a:rPr>
              <a:t>Trained end-to-end with no pretrained weights — and still beat a frozen ImageNet backbone on every metric in the benchmark.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7920" y="1843080"/>
            <a:ext cx="5440680" cy="4434840"/>
          </a:xfrm>
          <a:prstGeom prst="roundRect">
            <a:avLst>
              <a:gd name="adj" fmla="val 4500"/>
            </a:avLst>
          </a:prstGeom>
          <a:solidFill>
            <a:srgbClr val="1D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783080"/>
            <a:ext cx="5440680" cy="4434840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73952" y="2002536"/>
            <a:ext cx="5572461" cy="292608"/>
          </a:xfrm>
          <a:prstGeom prst="roundRect">
            <a:avLst>
              <a:gd name="adj" fmla="val 50000"/>
            </a:avLst>
          </a:prstGeom>
          <a:solidFill>
            <a:srgbClr val="EFE6D3"/>
          </a:solidFill>
          <a:ln w="13970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  <a:r>
              <a:rPr sz="950" b="1">
                <a:solidFill>
                  <a:srgbClr val="5B6B5D"/>
                </a:solidFill>
                <a:latin typeface="Segoe UI"/>
              </a:rPr>
              <a:t>Benchmarked, not used in the shipped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404872"/>
            <a:ext cx="4928616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D2B1F"/>
                </a:solidFill>
                <a:latin typeface="Georgia"/>
              </a:rPr>
              <a:t>EfficientNetB3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926080"/>
            <a:ext cx="4928616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4A3C"/>
                </a:solidFill>
                <a:latin typeface="Segoe UI"/>
              </a:rPr>
              <a:t>Framework: TensorFlow/Keras (ImageNet-pretrained)  ·  Input: 224×224 RGB  ·  Output: softmax classifier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429000"/>
            <a:ext cx="4928616" cy="1417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4A3C"/>
                </a:solidFill>
                <a:latin typeface="Segoe UI"/>
              </a:rPr>
              <a:t>EfficientNetB3 backbone (386 layers, ImageNet weights, frozen) feeding a Dense(256) → Dropout(0.3) → softmax head — only the ~397K head parameters are trained.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937760"/>
            <a:ext cx="4928616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4A3C"/>
                </a:solidFill>
                <a:latin typeface="Segoe UI"/>
              </a:rPr>
              <a:t>A standard transfer-learning baseline: strong out of the box, but its frozen ImageNet features placed second — 87.10% vs. the custom CNN’s 95.51% test accuracy in the benchmark.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MODEL 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06 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48640"/>
            <a:ext cx="3442273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METHODOLOGY ·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115568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600" b="1">
                <a:solidFill>
                  <a:srgbClr val="1D2B1F"/>
                </a:solidFill>
                <a:latin typeface="Georgia"/>
              </a:rPr>
              <a:t>Proving the architecture choice, rigorously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115568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A4A3C"/>
                </a:solidFill>
                <a:latin typeface="Segoe UI"/>
              </a:rPr>
              <a:t>The production log only captures a few epochs, so a separate benchmark notebook re-runs the same two-architecture idea — a residual/VGG-style CNN vs. a pretrained EfficientNetB3 — on a clean, leakage-checked 70/15/15 split of a 15-class PlantVillage subset (pepper, potato, tomato · 20,624 images), scored against a full evaluation suite instead of accuracy alone.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971800"/>
          <a:ext cx="74523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709160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DF8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anchor="ctr">
                    <a:solidFill>
                      <a:srgbClr val="1D2B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DF8"/>
                          </a:solidFill>
                          <a:latin typeface="Segoe UI"/>
                        </a:rPr>
                        <a:t>Why it's here</a:t>
                      </a:r>
                    </a:p>
                  </a:txBody>
                  <a:tcPr anchor="ctr">
                    <a:solidFill>
                      <a:srgbClr val="1D2B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D2B1F"/>
                          </a:solidFill>
                          <a:latin typeface="Segoe UI"/>
                        </a:rPr>
                        <a:t>Accuracy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4A3C"/>
                          </a:solidFill>
                          <a:latin typeface="Segoe UI"/>
                        </a:rPr>
                        <a:t>the headline number — but flattered by class imbalance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D2B1F"/>
                          </a:solidFill>
                          <a:latin typeface="Segoe UI"/>
                        </a:rPr>
                        <a:t>Balanced accuracy / macro-F1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4A3C"/>
                          </a:solidFill>
                          <a:latin typeface="Segoe UI"/>
                        </a:rPr>
                        <a:t>treats a 152-image class as equal to a 3,200-image one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D2B1F"/>
                          </a:solidFill>
                          <a:latin typeface="Segoe UI"/>
                        </a:rPr>
                        <a:t>Top-3 accuracy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4A3C"/>
                          </a:solidFill>
                          <a:latin typeface="Segoe UI"/>
                        </a:rPr>
                        <a:t>useful for a UI that could surface three candidate diagnoses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D2B1F"/>
                          </a:solidFill>
                          <a:latin typeface="Segoe UI"/>
                        </a:rPr>
                        <a:t>Cohen's κ / MCC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4A3C"/>
                          </a:solidFill>
                          <a:latin typeface="Segoe UI"/>
                        </a:rPr>
                        <a:t>agreement corrected for chance; robust under skew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D2B1F"/>
                          </a:solidFill>
                          <a:latin typeface="Segoe UI"/>
                        </a:rPr>
                        <a:t>ROC-AUC / PR-AUC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4A3C"/>
                          </a:solidFill>
                          <a:latin typeface="Segoe UI"/>
                        </a:rPr>
                        <a:t>threshold-free ranking quality, one-vs-rest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D2B1F"/>
                          </a:solidFill>
                          <a:latin typeface="Segoe UI"/>
                        </a:rPr>
                        <a:t>Log-loss / calibration (ECE)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4A3C"/>
                          </a:solidFill>
                          <a:latin typeface="Segoe UI"/>
                        </a:rPr>
                        <a:t>is the model's confidence trustworthy, not just its top guess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2971800"/>
            <a:ext cx="3429000" cy="105156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3118104"/>
            <a:ext cx="306324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2B1F"/>
                </a:solidFill>
                <a:latin typeface="Segoe UI"/>
              </a:rPr>
              <a:t>Zero leakage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538728"/>
            <a:ext cx="30632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A4A3C"/>
                </a:solidFill>
                <a:latin typeface="Segoe UI"/>
              </a:rPr>
              <a:t>Train/val/test share no files — checked by exact set intersection before training started.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142232"/>
            <a:ext cx="3429000" cy="105156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4288536"/>
            <a:ext cx="306324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2B1F"/>
                </a:solidFill>
                <a:latin typeface="Segoe UI"/>
              </a:rPr>
              <a:t>0.07% duplicates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09160"/>
            <a:ext cx="30632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A4A3C"/>
                </a:solidFill>
                <a:latin typeface="Segoe UI"/>
              </a:rPr>
              <a:t>14 exact-duplicate images found by hash across 20,638 files, all removed before splitting.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312664"/>
            <a:ext cx="3429000" cy="105156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5458968"/>
            <a:ext cx="306324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2B1F"/>
                </a:solidFill>
                <a:latin typeface="Segoe UI"/>
              </a:rPr>
              <a:t>21.1× imbalance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5879592"/>
            <a:ext cx="30632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A4A3C"/>
                </a:solidFill>
                <a:latin typeface="Segoe UI"/>
              </a:rPr>
              <a:t>Largest class had 3,208 images, smallest 152 — handled with per-class loss weighting.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BENCHMARK METHODOLOGY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07 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403987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BENCHMARK ·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05840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D2B1F"/>
                </a:solidFill>
                <a:latin typeface="Georgia"/>
              </a:rPr>
              <a:t>Class distribution across the 15 benchmark diseases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83112" cy="4709160"/>
          </a:xfrm>
          <a:prstGeom prst="roundRect">
            <a:avLst>
              <a:gd name="adj" fmla="val 35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607" y="1691640"/>
            <a:ext cx="8477737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5D"/>
                </a:solidFill>
                <a:latin typeface="Segoe UI"/>
              </a:rPr>
              <a:t>Largest class 3,208 images, smallest 152 — a 21.1× spread: real, but moderate.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CLASS DISTRIBUTION ACROSS THE 15 BENCHMARK DISEASES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08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403987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BENCHMARK ·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05840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D2B1F"/>
                </a:solidFill>
                <a:latin typeface="Georgia"/>
              </a:rPr>
              <a:t>How skewed is skewed? The imbalance curve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83112" cy="4709160"/>
          </a:xfrm>
          <a:prstGeom prst="roundRect">
            <a:avLst>
              <a:gd name="adj" fmla="val 35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imbalanc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421" y="1691640"/>
            <a:ext cx="9730110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5D"/>
                </a:solidFill>
                <a:latin typeface="Segoe UI"/>
              </a:rPr>
              <a:t>The Gini coefficient quantifies the gap from perfectly balanced classes — the gap that per-class loss weighting corrects for.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HOW SKEWED IS SKEWED? THE IMBALANCE CURVE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09 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403987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BENCHMARK ·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05840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D2B1F"/>
                </a:solidFill>
                <a:latin typeface="Georgia"/>
              </a:rPr>
              <a:t>What the model actually sees — four samples per class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83112" cy="4709160"/>
          </a:xfrm>
          <a:prstGeom prst="roundRect">
            <a:avLst>
              <a:gd name="adj" fmla="val 35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sample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738295" y="-1545336"/>
            <a:ext cx="2712362" cy="10543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5D"/>
                </a:solidFill>
                <a:latin typeface="Segoe UI"/>
              </a:rPr>
              <a:t>Rotated 90° to fit — uniform framing across every class is why field photos need separate validation (see slide 30).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WHAT THE MODEL ACTUALLY SEES — FOUR SAMPLES PER 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10 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403987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BENCHMARK ·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05840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D2B1F"/>
                </a:solidFill>
                <a:latin typeface="Georgia"/>
              </a:rPr>
              <a:t>Are all 20,624 images even the same shape?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83112" cy="4709160"/>
          </a:xfrm>
          <a:prstGeom prst="roundRect">
            <a:avLst>
              <a:gd name="adj" fmla="val 35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resolution_file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77961"/>
            <a:ext cx="10543032" cy="28964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5D"/>
                </a:solidFill>
                <a:latin typeface="Segoe UI"/>
              </a:rPr>
              <a:t>Every image resolves to 256×256 RGB — resizing to the 224px model input costs almost nothing and distorts no class more than another.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ARE ALL 20,624 IMAGES EVEN THE SAME SHAPE?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11 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403987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BENCHMARK ·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05840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D2B1F"/>
                </a:solidFill>
                <a:latin typeface="Georgia"/>
              </a:rPr>
              <a:t>Colour and brightness — signal, or shortcut?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83112" cy="4709160"/>
          </a:xfrm>
          <a:prstGeom prst="roundRect">
            <a:avLst>
              <a:gd name="adj" fmla="val 35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colour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934" y="1691640"/>
            <a:ext cx="6815084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5D"/>
                </a:solidFill>
                <a:latin typeface="Segoe UI"/>
              </a:rPr>
              <a:t>Per-channel intensity overlaps heavily across classes, so this isn't a task a colour histogram could solve alone — convolutional features are warranted.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COLOUR AND BRIGHTNESS — SIGNAL, OR SHORTCUT?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12 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403987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BENCHMARK ·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05840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D2B1F"/>
                </a:solidFill>
                <a:latin typeface="Georgia"/>
              </a:rPr>
              <a:t>The mean image per class — checking for a background shortcut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83112" cy="4709160"/>
          </a:xfrm>
          <a:prstGeom prst="roundRect">
            <a:avLst>
              <a:gd name="adj" fmla="val 35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mean_image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185" y="1691640"/>
            <a:ext cx="6540581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5D"/>
                </a:solidFill>
                <a:latin typeface="Segoe UI"/>
              </a:rPr>
              <a:t>A shared centred-leaf-on-grey-background composition across every class — a known PlantVillage limitation, addressed on the roadmap slide.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THE MEAN IMAGE PER CLASS — CHECKING FOR A BACKGROUND SHORTCUT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13 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663558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BENCHMARK ·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05840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D2B1F"/>
                </a:solidFill>
                <a:latin typeface="Georgia"/>
              </a:rPr>
              <a:t>Stratified 70 / 15 / 15 — verified, not assumed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83112" cy="4709160"/>
          </a:xfrm>
          <a:prstGeom prst="roundRect">
            <a:avLst>
              <a:gd name="adj" fmla="val 35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_spli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93291"/>
            <a:ext cx="10543032" cy="38657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5D"/>
                </a:solidFill>
                <a:latin typeface="Segoe UI"/>
              </a:rPr>
              <a:t>Every class keeps its proportions across all three splits; dashed lines mark the 70% and 85% cumulative targets.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STRATIFIED 70 / 15 / 15 — VERIFIED, NOT ASSUMED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14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052916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BENCHMARK ·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05840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D2B1F"/>
                </a:solidFill>
                <a:latin typeface="Georgia"/>
              </a:rPr>
              <a:t>Augmentation — the label has to survive the transform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83112" cy="4709160"/>
          </a:xfrm>
          <a:prstGeom prst="roundRect">
            <a:avLst>
              <a:gd name="adj" fmla="val 35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_augmentation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264" y="1691640"/>
            <a:ext cx="10284423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5D"/>
                </a:solidFill>
                <a:latin typeface="Segoe UI"/>
              </a:rPr>
              <a:t>Row 1: originals. Rows 2–3: flipped, rotated, zoomed and colour-jittered views used only for the training split.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AUGMENTATION — THE LABEL HAS TO SURVIVE THE TRANSFORM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15 /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052916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BENCHMARK ·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05840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D2B1F"/>
                </a:solidFill>
                <a:latin typeface="Georgia"/>
              </a:rPr>
              <a:t>Learning curves — Custom CNN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83112" cy="4709160"/>
          </a:xfrm>
          <a:prstGeom prst="roundRect">
            <a:avLst>
              <a:gd name="adj" fmla="val 35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9_curves_custom_c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23231"/>
            <a:ext cx="10543032" cy="22058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5D"/>
                </a:solidFill>
                <a:latin typeface="Segoe UI"/>
              </a:rPr>
              <a:t>Final train/validation accuracy gap +4.2 pp — mild overfitting, reined in by early stopping on validation loss.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LEARNING CURVES — CUSTOM CNN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16 /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052916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BENCHMARK ·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05840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D2B1F"/>
                </a:solidFill>
                <a:latin typeface="Georgia"/>
              </a:rPr>
              <a:t>Learning curves — EfficientNetB3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83112" cy="4709160"/>
          </a:xfrm>
          <a:prstGeom prst="roundRect">
            <a:avLst>
              <a:gd name="adj" fmla="val 35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9_curves_efficientnet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24741"/>
            <a:ext cx="10543032" cy="22028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5D"/>
                </a:solidFill>
                <a:latin typeface="Segoe UI"/>
              </a:rPr>
              <a:t>Shaded region marks stage 2 (fine-tuning); train/val gap −2.0 pp — a healthier fit than the from-scratch CNN, at a lower ceiling.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LEARNING CURVES — EFFICIENTNETB3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17 /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3130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BENCHMARK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05840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D2B1F"/>
                </a:solidFill>
                <a:latin typeface="Georgia"/>
              </a:rPr>
              <a:t>Head-to-head on the held-out test 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83112" cy="4709160"/>
          </a:xfrm>
          <a:prstGeom prst="roundRect">
            <a:avLst>
              <a:gd name="adj" fmla="val 35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_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771" y="1691640"/>
            <a:ext cx="8931410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5D"/>
                </a:solidFill>
                <a:latin typeface="Segoe UI"/>
              </a:rPr>
              <a:t>Across every metric — accuracy, balanced accuracy, macro/weighted F1, top-3, ROC-AUC, PR-AUC, MCC — the custom CNN leads.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HEAD-TO-HEAD ON THE HELD-OUT TEST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18 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3130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BENCHMARK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05840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D2B1F"/>
                </a:solidFill>
                <a:latin typeface="Georgia"/>
              </a:rPr>
              <a:t>Confusion matrix — Custom CNN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83112" cy="4709160"/>
          </a:xfrm>
          <a:prstGeom prst="roundRect">
            <a:avLst>
              <a:gd name="adj" fmla="val 35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1_confusion_custom_c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43" y="1691640"/>
            <a:ext cx="10218466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5D"/>
                </a:solidFill>
                <a:latin typeface="Segoe UI"/>
              </a:rPr>
              <a:t>Errors cluster on genuinely similar-looking pairs: Tomato mosaic virus and Target Spot both get mistaken for spider-mite damage.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CONFUSION MATRIX — CUSTOM CNN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19 /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3130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BENCHMARK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05840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D2B1F"/>
                </a:solidFill>
                <a:latin typeface="Georgia"/>
              </a:rPr>
              <a:t>Confusion matrix — EfficientNetB3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83112" cy="4709160"/>
          </a:xfrm>
          <a:prstGeom prst="roundRect">
            <a:avLst>
              <a:gd name="adj" fmla="val 35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1_confusion_efficientnet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43" y="1691640"/>
            <a:ext cx="10218466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5D"/>
                </a:solidFill>
                <a:latin typeface="Segoe UI"/>
              </a:rPr>
              <a:t>Same confusion pattern, higher volume — e.g. 40 Target Spot images mistaken for spider-mite damage, versus 15 for the custom CNN.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CONFUSION MATRIX — EFFICIENTNETB3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20 /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3130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BENCHMARK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05840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D2B1F"/>
                </a:solidFill>
                <a:latin typeface="Georgia"/>
              </a:rPr>
              <a:t>Per-class precision, recall and F1 — Custom CNN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83112" cy="4709160"/>
          </a:xfrm>
          <a:prstGeom prst="roundRect">
            <a:avLst>
              <a:gd name="adj" fmla="val 35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2_per_clas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68964"/>
            <a:ext cx="10543032" cy="39144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5D"/>
                </a:solidFill>
                <a:latin typeface="Segoe UI"/>
              </a:rPr>
              <a:t>Tomato mosaic virus: perfect precision (1.000) but the weakest recall (0.732) — the model is cautious about calling it, and misses some real cases.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PER-CLASS PRECISION, RECALL AND F1 — CUSTOM CNN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21 /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3130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BENCHMARK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05840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D2B1F"/>
                </a:solidFill>
                <a:latin typeface="Georgia"/>
              </a:rPr>
              <a:t>ROC and precision–recall curves, one-vs-rest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83112" cy="4709160"/>
          </a:xfrm>
          <a:prstGeom prst="roundRect">
            <a:avLst>
              <a:gd name="adj" fmla="val 35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3_roc_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557" y="1691640"/>
            <a:ext cx="9961837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5D"/>
                </a:solidFill>
                <a:latin typeface="Segoe UI"/>
              </a:rPr>
              <a:t>Macro ROC-AUC of 0.999 — near-perfect ranking quality even for the rarest classes.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ROC AND PRECISION–RECALL CURVES, ONE-VS-REST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22 /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3130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BENCHMARK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05840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D2B1F"/>
                </a:solidFill>
                <a:latin typeface="Georgia"/>
              </a:rPr>
              <a:t>Is the model's confidence trustworthy?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83112" cy="4709160"/>
          </a:xfrm>
          <a:prstGeom prst="roundRect">
            <a:avLst>
              <a:gd name="adj" fmla="val 35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4_confidence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52668"/>
            <a:ext cx="10543032" cy="29470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5D"/>
                </a:solidFill>
                <a:latin typeface="Segoe UI"/>
              </a:rPr>
              <a:t>Expected Calibration Error 0.031 — when it says “90% confident,” it's right about 90% of the time; the risk-coverage curve shows where to route uncertain cases to a human.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IS THE MODEL'S CONFIDENCE TRUSTWORTHY?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23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2923130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BENCHMARK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05840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D2B1F"/>
                </a:solidFill>
                <a:latin typeface="Georgia"/>
              </a:rPr>
              <a:t>The most confident mistakes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83112" cy="4709160"/>
          </a:xfrm>
          <a:prstGeom prst="roundRect">
            <a:avLst>
              <a:gd name="adj" fmla="val 35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5_error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584" y="1691640"/>
            <a:ext cx="5165784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5D"/>
                </a:solidFill>
                <a:latin typeface="Segoe UI"/>
              </a:rPr>
              <a:t>Ranked by confidence — these are the images worth a second human look, not random noise.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THE MOST CONFIDENT MISTAKES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24 /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31630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BENCHMARK ·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05840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D2B1F"/>
                </a:solidFill>
                <a:latin typeface="Georgia"/>
              </a:rPr>
              <a:t>Grad-CAM — is the model looking at the lesion?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83112" cy="4709160"/>
          </a:xfrm>
          <a:prstGeom prst="roundRect">
            <a:avLst>
              <a:gd name="adj" fmla="val 35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6_grad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71335"/>
            <a:ext cx="10543032" cy="37096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5D"/>
                </a:solidFill>
                <a:latin typeface="Segoe UI"/>
              </a:rPr>
              <a:t>Heat concentrated on diseased tissue, not the background, is the visual check that the model learned pathology and not a shortcut.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GRAD-CAM — IS THE MODEL LOOKING AT THE LESION?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25 /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48640"/>
            <a:ext cx="3182701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BENCHMARK ·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115568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D2B1F"/>
                </a:solidFill>
                <a:latin typeface="Georgia"/>
              </a:rPr>
              <a:t>Three predictions,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060704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3A4A3C"/>
                </a:solidFill>
                <a:latin typeface="Segoe UI"/>
              </a:rPr>
              <a:t>Held-out test images the model never trained on, run through the full predict-and-rank pipeline — image in, top-5 probabilities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5440680" cy="1874519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7_demo_tomato_late_b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656" y="2212848"/>
            <a:ext cx="3815208" cy="14173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3648455"/>
            <a:ext cx="516636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B6B5D"/>
                </a:solidFill>
                <a:latin typeface="Segoe UI"/>
              </a:rPr>
              <a:t>Ground truth: Tomato · Late blight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440680" cy="1874519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8_demo_pepper_bacterial_sp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87" y="2212848"/>
            <a:ext cx="3977545" cy="14173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55080" y="3648455"/>
            <a:ext cx="516636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B6B5D"/>
                </a:solidFill>
                <a:latin typeface="Segoe UI"/>
              </a:rPr>
              <a:t>Ground truth: Pepper (bell) · Bacterial spot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160520"/>
            <a:ext cx="5440680" cy="1874519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9_demo_tomato_ylc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388" y="4270248"/>
            <a:ext cx="3957743" cy="141731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5705855"/>
            <a:ext cx="516636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B6B5D"/>
                </a:solidFill>
                <a:latin typeface="Segoe UI"/>
              </a:rPr>
              <a:t>Ground truth: Tomato · Yellow Leaf Curl Virus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160520"/>
            <a:ext cx="5440680" cy="1874519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A4A3C"/>
                </a:solidFill>
                <a:latin typeface="Segoe UI"/>
              </a:rPr>
              <a:t>All three ground-truth labels land in the model's top prediction — the third case (Yellow Leaf Curl Virus) shows the lower-confidence, multi-candidate behaviour that a top-3 UI is built for.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LIVE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26 /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365700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D2B1F"/>
                </a:solidFill>
                <a:latin typeface="Georgia"/>
              </a:rPr>
              <a:t>Every benchmark metric, side by side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3017520"/>
                <a:gridCol w="30175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DF8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anchor="ctr" marL="109728" marR="109728">
                    <a:solidFill>
                      <a:srgbClr val="1D2B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DF8"/>
                          </a:solidFill>
                          <a:latin typeface="Segoe UI"/>
                        </a:rPr>
                        <a:t>Custom CNN</a:t>
                      </a:r>
                    </a:p>
                  </a:txBody>
                  <a:tcPr anchor="ctr" marL="109728" marR="109728">
                    <a:solidFill>
                      <a:srgbClr val="1D2B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DF8"/>
                          </a:solidFill>
                          <a:latin typeface="Segoe UI"/>
                        </a:rPr>
                        <a:t>EfficientNetB3</a:t>
                      </a:r>
                    </a:p>
                  </a:txBody>
                  <a:tcPr anchor="ctr" marL="109728" marR="109728">
                    <a:solidFill>
                      <a:srgbClr val="1D2B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Accuracy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95.51%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87.10%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Balanced accuracy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94.86%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88.06%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Macro-F1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94.59%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86.92%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Weighted F1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95.52%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87.12%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Top-3 accuracy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99.81%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97.41%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Cohen's κ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0.951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0.859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MCC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0.951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0.861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ROC-AUC (macro)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0.999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0.993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PR-AUC (macro)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0.991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0.946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Log-loss (lower is better)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0.166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0.444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Inference speed, ms / image (lower is better)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3.7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D2B1F"/>
                          </a:solidFill>
                          <a:latin typeface="Segoe UI"/>
                        </a:rPr>
                        <a:t>8.5</a:t>
                      </a:r>
                    </a:p>
                  </a:txBody>
                  <a:tcPr anchor="ctr" marL="109728" marR="109728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5D"/>
                </a:solidFill>
                <a:latin typeface="Segoe UI"/>
              </a:rPr>
              <a:t>Cross-check: the same residual architecture, retrained on the full 38-class production dataset, reached 94.1% validation accuracy in its very first training epoch.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27 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48640"/>
            <a:ext cx="2274201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115568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1D2B1F"/>
                </a:solidFill>
                <a:latin typeface="Georgia"/>
              </a:rPr>
              <a:t>Inside the Streamlit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3611880" cy="146304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9384"/>
            <a:ext cx="32461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2B1F"/>
                </a:solidFill>
                <a:latin typeface="Segoe UI"/>
              </a:rPr>
              <a:t>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0008"/>
            <a:ext cx="324612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A4A3C"/>
                </a:solidFill>
                <a:latin typeface="Segoe UI"/>
              </a:rPr>
              <a:t>Introduces the tool, shows the interface, and links onward to the recognition page.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1783080"/>
            <a:ext cx="3611880" cy="146304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929384"/>
            <a:ext cx="32461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2B1F"/>
                </a:solidFill>
                <a:latin typeface="Segoe UI"/>
              </a:rPr>
              <a:t>About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2350008"/>
            <a:ext cx="324612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A4A3C"/>
                </a:solidFill>
                <a:latin typeface="Segoe UI"/>
              </a:rPr>
              <a:t>Documents the dataset — 87,900 images, 38 classes — and lists every crop and condition in a searchable 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6" y="1783080"/>
            <a:ext cx="3611880" cy="146304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0456" y="1929384"/>
            <a:ext cx="32461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2B1F"/>
                </a:solidFill>
                <a:latin typeface="Segoe UI"/>
              </a:rPr>
              <a:t>Disease Recognition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0456" y="2350008"/>
            <a:ext cx="324612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A4A3C"/>
                </a:solidFill>
                <a:latin typeface="Segoe UI"/>
              </a:rPr>
              <a:t>The working tool: upload a photo, get a prediction and a full Hindi treatment card.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20440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D2B1F"/>
                </a:solidFill>
                <a:latin typeface="Georgia"/>
              </a:rPr>
              <a:t>One inference call, five steps: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77639"/>
            <a:ext cx="1965960" cy="868680"/>
          </a:xfrm>
          <a:prstGeom prst="roundRect">
            <a:avLst>
              <a:gd name="adj" fmla="val 35000"/>
            </a:avLst>
          </a:prstGeom>
          <a:solidFill>
            <a:srgbClr val="EFE6D3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087367"/>
            <a:ext cx="1783080" cy="685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D2B1F"/>
                </a:solidFill>
                <a:latin typeface="Segoe UI"/>
              </a:rPr>
              <a:t>Upload</a:t>
            </a:r>
          </a:p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D2B1F"/>
                </a:solidFill>
                <a:latin typeface="Segoe UI"/>
              </a:rPr>
              <a:t>jpg / 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251959"/>
            <a:ext cx="320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5B6B5D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3977639"/>
            <a:ext cx="1965960" cy="868680"/>
          </a:xfrm>
          <a:prstGeom prst="roundRect">
            <a:avLst>
              <a:gd name="adj" fmla="val 35000"/>
            </a:avLst>
          </a:prstGeom>
          <a:solidFill>
            <a:srgbClr val="EFE6D3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4087367"/>
            <a:ext cx="1783080" cy="685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D2B1F"/>
                </a:solidFill>
                <a:latin typeface="Segoe UI"/>
              </a:rPr>
              <a:t>Resize</a:t>
            </a:r>
          </a:p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D2B1F"/>
                </a:solidFill>
                <a:latin typeface="Segoe UI"/>
              </a:rPr>
              <a:t>224×224 + normalise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251959"/>
            <a:ext cx="320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5B6B5D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3977639"/>
            <a:ext cx="1965960" cy="868680"/>
          </a:xfrm>
          <a:prstGeom prst="roundRect">
            <a:avLst>
              <a:gd name="adj" fmla="val 35000"/>
            </a:avLst>
          </a:prstGeom>
          <a:solidFill>
            <a:srgbClr val="EFE6D3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4087367"/>
            <a:ext cx="1783080" cy="685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D2B1F"/>
                </a:solidFill>
                <a:latin typeface="Segoe UI"/>
              </a:rPr>
              <a:t>Forward pass</a:t>
            </a:r>
          </a:p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D2B1F"/>
                </a:solidFill>
                <a:latin typeface="Segoe UI"/>
              </a:rPr>
              <a:t>residual CNN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251959"/>
            <a:ext cx="320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5B6B5D"/>
                </a:solidFill>
                <a:latin typeface="Segoe U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977639"/>
            <a:ext cx="1965960" cy="868680"/>
          </a:xfrm>
          <a:prstGeom prst="roundRect">
            <a:avLst>
              <a:gd name="adj" fmla="val 35000"/>
            </a:avLst>
          </a:prstGeom>
          <a:solidFill>
            <a:srgbClr val="EFE6D3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4087367"/>
            <a:ext cx="1783080" cy="685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D2B1F"/>
                </a:solidFill>
                <a:latin typeface="Segoe UI"/>
              </a:rPr>
              <a:t>Argmax</a:t>
            </a:r>
          </a:p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D2B1F"/>
                </a:solidFill>
                <a:latin typeface="Segoe UI"/>
              </a:rPr>
              <a:t>over 38 classes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4251959"/>
            <a:ext cx="320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5B6B5D"/>
                </a:solidFill>
                <a:latin typeface="Segoe U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3977639"/>
            <a:ext cx="1965960" cy="868680"/>
          </a:xfrm>
          <a:prstGeom prst="roundRect">
            <a:avLst>
              <a:gd name="adj" fmla="val 35000"/>
            </a:avLst>
          </a:prstGeom>
          <a:solidFill>
            <a:srgbClr val="EFE6D3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38360" y="4087367"/>
            <a:ext cx="1783080" cy="685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D2B1F"/>
                </a:solidFill>
                <a:latin typeface="Segoe UI"/>
              </a:rPr>
              <a:t>Treatment card</a:t>
            </a:r>
          </a:p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D2B1F"/>
                </a:solidFill>
                <a:latin typeface="Segoe UI"/>
              </a:rPr>
              <a:t>in Hindi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9120" y="5196840"/>
            <a:ext cx="11155680" cy="1234440"/>
          </a:xfrm>
          <a:prstGeom prst="roundRect">
            <a:avLst>
              <a:gd name="adj" fmla="val 8000"/>
            </a:avLst>
          </a:prstGeom>
          <a:solidFill>
            <a:srgbClr val="1D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5120640"/>
            <a:ext cx="11155680" cy="1234440"/>
          </a:xfrm>
          <a:prstGeom prst="roundRect">
            <a:avLst>
              <a:gd name="adj" fmla="val 8000"/>
            </a:avLst>
          </a:prstGeom>
          <a:solidFill>
            <a:srgbClr val="BFEA4B"/>
          </a:solidFill>
          <a:ln w="19050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321808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D2B1F"/>
                </a:solidFill>
                <a:latin typeface="Segoe UI"/>
              </a:rPr>
              <a:t>Same design system, end to end. </a:t>
            </a:r>
            <a:r>
              <a:rPr sz="1300" b="0">
                <a:solidFill>
                  <a:srgbClr val="1D2B1F"/>
                </a:solidFill>
                <a:latin typeface="Segoe UI"/>
              </a:rPr>
              <a:t>This deck reuses the CauseHouse system already shipped in App.py — cream &amp; forest-ink palette, serif display + clean sans body, pill-radius buttons, and the hard offset-shadow “sticker” cards used for the app's own prediction result.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IMPLEMENTATION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28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48640"/>
            <a:ext cx="2014629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KEY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115568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1D2B1F"/>
                </a:solidFill>
                <a:latin typeface="Georgia"/>
              </a:rPr>
              <a:t>What this delivers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11155680" cy="841248"/>
          </a:xfrm>
          <a:prstGeom prst="roundRect">
            <a:avLst>
              <a:gd name="adj" fmla="val 18000"/>
            </a:avLst>
          </a:prstGeom>
          <a:solidFill>
            <a:srgbClr val="FFFDF8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947672"/>
            <a:ext cx="512064" cy="512064"/>
          </a:xfrm>
          <a:prstGeom prst="ellipse">
            <a:avLst/>
          </a:prstGeom>
          <a:solidFill>
            <a:srgbClr val="BFEA4B"/>
          </a:solidFill>
          <a:ln w="15875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D2B1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74520"/>
            <a:ext cx="99669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D2B1F"/>
                </a:solidFill>
                <a:latin typeface="Segoe UI"/>
              </a:rPr>
              <a:t>Accurate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85416"/>
            <a:ext cx="996696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A4A3C"/>
                </a:solidFill>
                <a:latin typeface="Segoe UI"/>
              </a:rPr>
              <a:t>95.5% test accuracy and 94.6% macro-F1 on the benchmarked architecture family, with the production model tracking the same result on the full 38-class dataset.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43200"/>
            <a:ext cx="11155680" cy="841248"/>
          </a:xfrm>
          <a:prstGeom prst="roundRect">
            <a:avLst>
              <a:gd name="adj" fmla="val 18000"/>
            </a:avLst>
          </a:prstGeom>
          <a:solidFill>
            <a:srgbClr val="FFFDF8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2907792"/>
            <a:ext cx="512064" cy="512064"/>
          </a:xfrm>
          <a:prstGeom prst="ellipse">
            <a:avLst/>
          </a:prstGeom>
          <a:solidFill>
            <a:srgbClr val="BFEA4B"/>
          </a:solidFill>
          <a:ln w="15875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D2B1F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834640"/>
            <a:ext cx="99669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D2B1F"/>
                </a:solidFill>
                <a:latin typeface="Segoe UI"/>
              </a:rPr>
              <a:t>Fast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145536"/>
            <a:ext cx="996696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A4A3C"/>
                </a:solidFill>
                <a:latin typeface="Segoe UI"/>
              </a:rPr>
              <a:t>3.7 ms per image — well under what's needed for the prediction to feel instant inside the browser.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03320"/>
            <a:ext cx="11155680" cy="841248"/>
          </a:xfrm>
          <a:prstGeom prst="roundRect">
            <a:avLst>
              <a:gd name="adj" fmla="val 18000"/>
            </a:avLst>
          </a:prstGeom>
          <a:solidFill>
            <a:srgbClr val="FFFDF8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3867912"/>
            <a:ext cx="512064" cy="512064"/>
          </a:xfrm>
          <a:prstGeom prst="ellipse">
            <a:avLst/>
          </a:prstGeom>
          <a:solidFill>
            <a:srgbClr val="BFEA4B"/>
          </a:solidFill>
          <a:ln w="15875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D2B1F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94760"/>
            <a:ext cx="99669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D2B1F"/>
                </a:solidFill>
                <a:latin typeface="Segoe UI"/>
              </a:rPr>
              <a:t>Understandable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105656"/>
            <a:ext cx="996696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A4A3C"/>
                </a:solidFill>
                <a:latin typeface="Segoe UI"/>
              </a:rPr>
              <a:t>Hindi-language cause, symptoms, and organic + chemical treatment for every one of the 38 classes — not just a label.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663440"/>
            <a:ext cx="11155680" cy="841248"/>
          </a:xfrm>
          <a:prstGeom prst="roundRect">
            <a:avLst>
              <a:gd name="adj" fmla="val 18000"/>
            </a:avLst>
          </a:prstGeom>
          <a:solidFill>
            <a:srgbClr val="FFFDF8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828032"/>
            <a:ext cx="512064" cy="512064"/>
          </a:xfrm>
          <a:prstGeom prst="ellipse">
            <a:avLst/>
          </a:prstGeom>
          <a:solidFill>
            <a:srgbClr val="BFEA4B"/>
          </a:solidFill>
          <a:ln w="15875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D2B1F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754880"/>
            <a:ext cx="99669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D2B1F"/>
                </a:solidFill>
                <a:latin typeface="Segoe UI"/>
              </a:rPr>
              <a:t>Honest about 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065776"/>
            <a:ext cx="996696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A4A3C"/>
                </a:solidFill>
                <a:latin typeface="Segoe UI"/>
              </a:rPr>
              <a:t>Calibrated probabilities (ECE 0.031) mean the app's confidence score is trustworthy enough to act on, not just decorative.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623560"/>
            <a:ext cx="11155680" cy="841248"/>
          </a:xfrm>
          <a:prstGeom prst="roundRect">
            <a:avLst>
              <a:gd name="adj" fmla="val 18000"/>
            </a:avLst>
          </a:prstGeom>
          <a:solidFill>
            <a:srgbClr val="FFFDF8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5788152"/>
            <a:ext cx="512064" cy="512064"/>
          </a:xfrm>
          <a:prstGeom prst="ellipse">
            <a:avLst/>
          </a:prstGeom>
          <a:solidFill>
            <a:srgbClr val="BFEA4B"/>
          </a:solidFill>
          <a:ln w="15875">
            <a:solidFill>
              <a:srgbClr val="1D2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D2B1F"/>
                </a:solidFill>
                <a:latin typeface="Georg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715000"/>
            <a:ext cx="99669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D2B1F"/>
                </a:solidFill>
                <a:latin typeface="Segoe UI"/>
              </a:rPr>
              <a:t>Portable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6025896"/>
            <a:ext cx="996696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A4A3C"/>
                </a:solidFill>
                <a:latin typeface="Segoe UI"/>
              </a:rPr>
              <a:t>The benchmark pipeline exports to fp16 TFLite at ≈22 MB with under 1 pp accuracy loss — a clear path to an offline mobile app.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KEY OUTCOMES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29 /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48640"/>
            <a:ext cx="4091202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READING THE RESULTS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115568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1D2B1F"/>
                </a:solidFill>
                <a:latin typeface="Georgia"/>
              </a:rPr>
              <a:t>What this isn't —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B6B5D"/>
                </a:solidFill>
                <a:latin typeface="Georgia"/>
              </a:rPr>
              <a:t>Limitations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212848"/>
            <a:ext cx="5157216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B1F"/>
                </a:solidFill>
                <a:latin typeface="Segoe UI"/>
              </a:rPr>
              <a:t>Lab photos, not field photos.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523744"/>
            <a:ext cx="5157216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A4A3C"/>
                </a:solidFill>
                <a:latin typeface="Segoe UI"/>
              </a:rPr>
              <a:t>PlantVillage leaves are cropped, centred, and shot on a plain background. Published research shows models trained on it can drop to 30–50% accuracy on real field images. The benchmark numbers are a ceiling, not a deployment guarantee.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56432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566160"/>
            <a:ext cx="5157216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B1F"/>
                </a:solidFill>
                <a:latin typeface="Segoe UI"/>
              </a:rPr>
              <a:t>No “is this even a leaf?” check.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877056"/>
            <a:ext cx="5157216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A4A3C"/>
                </a:solidFill>
                <a:latin typeface="Segoe UI"/>
              </a:rPr>
              <a:t>A 38-way softmax will confidently classify a shoe. An out-of-distribution guard belongs in front of the classifier before this goes further.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809744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919472"/>
            <a:ext cx="5157216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2B1F"/>
                </a:solidFill>
                <a:latin typeface="Segoe UI"/>
              </a:rPr>
              <a:t>Two models, one shipped.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5230368"/>
            <a:ext cx="5157216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A4A3C"/>
                </a:solidFill>
                <a:latin typeface="Segoe UI"/>
              </a:rPr>
              <a:t>EfficientNetB3 was benchmarked head-to-head against the custom CNN, but only on a 15-class, ~20.6K-image subset of PlantVillage — not yet repeated on the full 38-class set the app ships with.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737360"/>
            <a:ext cx="53949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B6B5D"/>
                </a:solidFill>
                <a:latin typeface="Georgia"/>
              </a:rPr>
              <a:t>Next 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103120"/>
            <a:ext cx="5394960" cy="868680"/>
          </a:xfrm>
          <a:prstGeom prst="roundRect">
            <a:avLst>
              <a:gd name="adj" fmla="val 14000"/>
            </a:avLst>
          </a:prstGeom>
          <a:solidFill>
            <a:srgbClr val="FFFDF8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2249424"/>
            <a:ext cx="5074920" cy="5943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A4A3C"/>
                </a:solidFill>
                <a:latin typeface="Segoe UI"/>
              </a:rPr>
              <a:t>Validate on field-collected photos before trusting the accuracy number publicly.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108960"/>
            <a:ext cx="5394960" cy="868680"/>
          </a:xfrm>
          <a:prstGeom prst="roundRect">
            <a:avLst>
              <a:gd name="adj" fmla="val 14000"/>
            </a:avLst>
          </a:prstGeom>
          <a:solidFill>
            <a:srgbClr val="FFFDF8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3255264"/>
            <a:ext cx="5074920" cy="5943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A4A3C"/>
                </a:solidFill>
                <a:latin typeface="Segoe UI"/>
              </a:rPr>
              <a:t>Re-run the custom-CNN-vs-EfficientNet benchmark on the full 38-class dataset to confirm the 15-class result holds.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114800"/>
            <a:ext cx="5394960" cy="868680"/>
          </a:xfrm>
          <a:prstGeom prst="roundRect">
            <a:avLst>
              <a:gd name="adj" fmla="val 14000"/>
            </a:avLst>
          </a:prstGeom>
          <a:solidFill>
            <a:srgbClr val="FFFDF8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4261104"/>
            <a:ext cx="5074920" cy="5943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A4A3C"/>
                </a:solidFill>
                <a:latin typeface="Segoe UI"/>
              </a:rPr>
              <a:t>Add a confidence threshold that routes uncertain photos to “try another photo” instead of guessing.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5120640"/>
            <a:ext cx="5394960" cy="868680"/>
          </a:xfrm>
          <a:prstGeom prst="roundRect">
            <a:avLst>
              <a:gd name="adj" fmla="val 14000"/>
            </a:avLst>
          </a:prstGeom>
          <a:solidFill>
            <a:srgbClr val="FFFDF8"/>
          </a:solidFill>
          <a:ln w="15875">
            <a:solidFill>
              <a:srgbClr val="E2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5266944"/>
            <a:ext cx="5074920" cy="5943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A4A3C"/>
                </a:solidFill>
                <a:latin typeface="Segoe UI"/>
              </a:rPr>
              <a:t>Ship the TFLite export for offline use on low-connectivity farms.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HONEST READ &amp; ROADMAP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30 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625272" cy="329184"/>
          </a:xfrm>
          <a:prstGeom prst="roundRect">
            <a:avLst>
              <a:gd name="adj" fmla="val 50000"/>
            </a:avLst>
          </a:prstGeom>
          <a:solidFill>
            <a:srgbClr val="BFE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50" b="1">
                <a:solidFill>
                  <a:srgbClr val="1D2B1F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965960"/>
            <a:ext cx="1005840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D2B1F"/>
                </a:solidFill>
                <a:latin typeface="Georgia"/>
              </a:rPr>
              <a:t>Questions, feedback, field data — all 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37560"/>
            <a:ext cx="960120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500" b="0">
                <a:solidFill>
                  <a:srgbClr val="3A4A3C"/>
                </a:solidFill>
                <a:latin typeface="Segoe UI"/>
              </a:rPr>
              <a:t>This deck, the app, and the treatment database all live in the same repository. If you have field-collected photos or agronomy corrections, they make the next version better.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B6B5D"/>
                </a:solidFill>
                <a:latin typeface="Segoe UI"/>
              </a:rPr>
              <a:t>Saksham Agrawal   ·   </a:t>
            </a:r>
            <a:r>
              <a:rPr sz="1300" b="0">
                <a:solidFill>
                  <a:srgbClr val="5B6B5D"/>
                </a:solidFill>
                <a:latin typeface="Segoe UI"/>
              </a:rPr>
              <a:t>Repository: cropDisease   ·   </a:t>
            </a:r>
            <a:r>
              <a:rPr sz="1300" b="0">
                <a:solidFill>
                  <a:srgbClr val="5B6B5D"/>
                </a:solidFill>
                <a:latin typeface="Segoe UI"/>
              </a:rPr>
              <a:t>PyTorch · Streamlit · CauseHouse design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B5D"/>
                </a:solidFill>
                <a:latin typeface="Segoe UI"/>
              </a:rPr>
              <a:t>CROP DISEASE PREDICTION SYSTEM  ·  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B5D"/>
                </a:solidFill>
                <a:latin typeface="Segoe UI"/>
              </a:rPr>
              <a:t>31 /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