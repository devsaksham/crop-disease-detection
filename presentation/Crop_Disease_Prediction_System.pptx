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87" r:id="rId38"/>
    <p:sldId id="259" r:id="rId10"/>
    <p:sldId id="260" r:id="rId11"/>
    <p:sldId id="261" r:id="rId12"/>
    <p:sldId id="262" r:id="rId13"/>
    <p:sldId id="273" r:id="rId24"/>
    <p:sldId id="274" r:id="rId25"/>
    <p:sldId id="278" r:id="rId29"/>
    <p:sldId id="281" r:id="rId32"/>
    <p:sldId id="283" r:id="rId34"/>
    <p:sldId id="284" r:id="rId35"/>
    <p:sldId id="285" r:id="rId36"/>
    <p:sldId id="286" r:id="rId37"/>
    <p:sldId id="288" r:id="rId39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5" r:id="rId26"/>
    <p:sldId id="276" r:id="rId27"/>
    <p:sldId id="277" r:id="rId28"/>
    <p:sldId id="279" r:id="rId30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11.xml"/><Relationship Id="rId30" Type="http://schemas.openxmlformats.org/officeDocument/2006/relationships/slide" Target="slides/slide31.xml"/><Relationship Id="rId32" Type="http://schemas.openxmlformats.org/officeDocument/2006/relationships/slide" Target="slides/slide12.xml"/><Relationship Id="rId33" Type="http://schemas.openxmlformats.org/officeDocument/2006/relationships/slide" Target="slides/slide3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4.xml"/><Relationship Id="rId39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5259274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COMPUTER VISION · PYTORCH ·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6766560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D2B1F"/>
                </a:solidFill>
                <a:latin typeface="Georgia"/>
              </a:rPr>
              <a:t>Crop Disease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1D2B1F"/>
                </a:solidFill>
                <a:latin typeface="Georgia"/>
              </a:rPr>
              <a:t>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612648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A4A3C"/>
                </a:solidFill>
                <a:latin typeface="Segoe UI"/>
              </a:rPr>
              <a:t>Upload a photo of a leaf. In under a second, get the disease name and a treatment plan written in Hindi — an end-to-end pipeline built for smallholder farmers.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B6B5D"/>
                </a:solidFill>
                <a:latin typeface="Segoe UI"/>
              </a:rPr>
              <a:t>Saksham Agrawal   ·   </a:t>
            </a:r>
            <a:r>
              <a:rPr sz="1250" b="0">
                <a:solidFill>
                  <a:srgbClr val="5B6B5D"/>
                </a:solidFill>
                <a:latin typeface="Segoe UI"/>
              </a:rPr>
              <a:t>Project walkthrough   ·   </a:t>
            </a:r>
            <a:r>
              <a:rPr sz="1250" b="0">
                <a:solidFill>
                  <a:srgbClr val="5B6B5D"/>
                </a:solidFill>
                <a:latin typeface="Segoe UI"/>
              </a:rPr>
              <a:t>August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2420" y="1303020"/>
            <a:ext cx="3794760" cy="4434840"/>
          </a:xfrm>
          <a:prstGeom prst="roundRect">
            <a:avLst>
              <a:gd name="adj" fmla="val 6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794760" cy="44348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_p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2288857"/>
            <a:ext cx="3575304" cy="22345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26364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B5D"/>
                </a:solidFill>
                <a:latin typeface="Segoe UI"/>
              </a:rPr>
              <a:t>01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014629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D2B1F"/>
                </a:solidFill>
                <a:latin typeface="Georgia"/>
              </a:rPr>
              <a:t>A sick leaf is a race against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042416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3A4A3C"/>
                </a:solidFill>
                <a:latin typeface="Segoe UI"/>
              </a:rPr>
              <a:t>Fungal and bacterial leaf diseases spread through a field in days. By the time symptoms are unmistakable to the eye, treatment options have narrowed — and most farmers don’t have an agronomist on call. They have a 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2666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Manual inspection doesn't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A few visible spots on one leaf can mean a field-wide infection is already underway by the time it's noticed.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2880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302666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Expert advice is hard to 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Agricultural extension officers cover hundreds of farms. A photo travels faster than a visit ever can.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5864" y="2880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302666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Generic advice wastes chemicals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right fungicide depends on the exact disease — not just a vague sense that “something is wrong.”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120" y="496824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489204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BFEA4B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4807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D2B1F"/>
                </a:solidFill>
                <a:latin typeface="Segoe UI"/>
              </a:rPr>
              <a:t>Goal — </a:t>
            </a:r>
            <a:r>
              <a:rPr sz="1550" b="0">
                <a:solidFill>
                  <a:srgbClr val="1D2B1F"/>
                </a:solidFill>
                <a:latin typeface="Segoe UI"/>
              </a:rPr>
              <a:t>turn one leaf photo into an instant, specific diagnosis and a locally-relevant treatment plan, in the farmer’s own language.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1884843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D2B1F"/>
                </a:solidFill>
                <a:latin typeface="Georgia"/>
              </a:rPr>
              <a:t>What we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7920" y="2010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11226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37413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disease classes across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14 crop species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248" y="2010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70248" y="1965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11226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87,900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37413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labelled leaf images in the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training corpus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576" y="2010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6" y="1965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211226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94.1%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337413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validation accuracy, first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epoch of the production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7920" y="4205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160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430682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95.5%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5686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test accuracy in the independent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architecture benchmark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248" y="4205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0248" y="4160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430682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55686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production model designs — residual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CNN &amp; CBAM attention CNN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2576" y="4205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37576" y="4160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2168" y="430682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हिं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55686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treatment guidance written in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Hindi, for every 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AT A GLANCE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014629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Grounded in prior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4767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7452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Hughes &amp; Salathé (2015)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8541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Released PlantVillage, the 50,000+ image lab-photo repository this project trains 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4320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90779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3464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Mohanty et al. (2016)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4553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Reported 99.35% on PlantVillage but far lower on field photos — the lab-to-field gap this deck raises.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86791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He et al. (2016)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0565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Introduced residual connections (ResNet) — the basis of this project's deployed CNN.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6344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82803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5488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Tan &amp; Le (2019)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06577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Proposed EfficientNet, the transfer-learning baseline in this project's benchmark.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2356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578815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71500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Singh et al. (2020)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602589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Built PlantDoc, a field-collected dataset — because PlantVillage models don't transfer outdoors.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LITERATURE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3182701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METHODOLOGY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1D2B1F"/>
                </a:solidFill>
                <a:latin typeface="Georgia"/>
              </a:rPr>
              <a:t>87,900 leaf photos, 38 diagnoses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060704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3A4A3C"/>
                </a:solidFill>
                <a:latin typeface="Segoe UI"/>
              </a:rPr>
              <a:t>Training data is the augmented PlantVillage corpus — laboratory photos of single leaves, isolated on a plain background, spanning 14 crop species from apple to tomato. The split below is the one documented on the app's own About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920" y="2651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75234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70,295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0540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training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248" y="2651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0248" y="2606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75234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17,572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540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validation images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576" y="2651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37576" y="2606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275234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30540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held-out test images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ppleCedarRus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032503"/>
            <a:ext cx="969264" cy="9692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Apple · Cedar rust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38528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ppleSca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264" y="4032503"/>
            <a:ext cx="969264" cy="9692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93392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Apple · Scab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ornCommonRust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872" y="4032503"/>
            <a:ext cx="969264" cy="9692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Corn · Common rust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9744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tatoEarlyBlight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4032503"/>
            <a:ext cx="969264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64608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Potato · Early blight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omatoEarlyBlight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4032503"/>
            <a:ext cx="969264" cy="9692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00216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Tomato · Early blight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omatoHealthy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4696" y="4032503"/>
            <a:ext cx="969264" cy="9692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35824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Tomato · Healthy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16568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TomatoYellowCurlVirus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4" y="4032503"/>
            <a:ext cx="969264" cy="9692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71432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Tomato · Yellow curl virus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552176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trawberry-plant-leaf-spo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16861" y="4032503"/>
            <a:ext cx="987365" cy="9692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607040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Strawberry · Leaf scorch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5D"/>
                </a:solidFill>
                <a:latin typeface="Segoe UI"/>
              </a:rPr>
              <a:t>Note — lab photos on a plain background; see the honesty check near the end of this deck.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DATASET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1884843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D2B1F"/>
                </a:solidFill>
                <a:latin typeface="Georgia"/>
              </a:rPr>
              <a:t>From raw photos to a shipped prediction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490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Collect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87,900 leaf photos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38 class folders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598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9796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913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913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integrity scan,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dedupe, class EDA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Split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stratified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70 / 15 /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7210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4408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525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Augment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525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flip · rotate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zoom (train only)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6714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Adam +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OneCycleLR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2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9020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137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9137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accuracy · F1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calibration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BFEA4B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13264" y="2249424"/>
            <a:ext cx="292608" cy="292608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443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443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Streamlit +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Hindi guidance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92024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54330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6636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8942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3554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" y="4709160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B6B5D"/>
                </a:solidFill>
                <a:latin typeface="Segoe UI"/>
              </a:rPr>
              <a:t>Raw PlantVillage photos are audited, stratified, augmented, and used to train a residual CNN, which is scored on a held-out set before being wrapped in the Streamlit app a farmer actually opens.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METHODOLOGY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663558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MODEL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1D2B1F"/>
                </a:solidFill>
                <a:latin typeface="Georgia"/>
              </a:rPr>
              <a:t>Two candidate architectures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920" y="184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2002536"/>
            <a:ext cx="2495774" cy="292608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 w="1397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  <a:r>
              <a:rPr sz="950" b="1">
                <a:solidFill>
                  <a:srgbClr val="1D2B1F"/>
                </a:solidFill>
                <a:latin typeface="Segoe UI"/>
              </a:rPr>
              <a:t>Deployed in App.py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04872"/>
            <a:ext cx="492861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D2B1F"/>
                </a:solidFill>
                <a:latin typeface="Georgia"/>
              </a:rPr>
              <a:t>Residual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26080"/>
            <a:ext cx="492861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Framework: PyTorch  ·  Input: 224×224 RGB  ·  Output: 38-way softmax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29000"/>
            <a:ext cx="4928616" cy="1417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Conv(3→64) → Conv(64→128, pooled) → residual block (128→128 ×2, skip-added back) → Conv(128→256, pooled) → Conv(256→512, pooled) → residual block (512 ×2, skip-added back) → global-average-pool → Linear(512→38).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937760"/>
            <a:ext cx="4928616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Skip connections let gradients reach early layers directly, so a network this deep trains from scratch on a modest ~70K-image dataset — no ImageNet pretraining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7920" y="184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2002536"/>
            <a:ext cx="5572461" cy="292608"/>
          </a:xfrm>
          <a:prstGeom prst="roundRect">
            <a:avLst>
              <a:gd name="adj" fmla="val 50000"/>
            </a:avLst>
          </a:prstGeom>
          <a:solidFill>
            <a:srgbClr val="EFE6D3"/>
          </a:solidFill>
          <a:ln w="1397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  <a:r>
              <a:rPr sz="950" b="1">
                <a:solidFill>
                  <a:srgbClr val="5B6B5D"/>
                </a:solidFill>
                <a:latin typeface="Segoe UI"/>
              </a:rPr>
              <a:t>Implemented, not yet wired into the live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404872"/>
            <a:ext cx="492861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D2B1F"/>
                </a:solidFill>
                <a:latin typeface="Georgia"/>
              </a:rPr>
              <a:t>CBAM Attention CNN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26080"/>
            <a:ext cx="492861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Framework: PyTorch  ·  Input: 224×224 RGB  ·  Output: 38-way softmax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429000"/>
            <a:ext cx="4928616" cy="1417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Four blocks (32→64→128→256), each Conv → BatchNorm → ReLU followed by a Convolutional Block Attention Module — a channel-attention gate, then a spatial-attention gate — before pooling. Ends in a single linear classifier.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937760"/>
            <a:ext cx="4928616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attention gates force the network to weight lesion-shaped regions over background leaf tissue — a direct answer to the “constant background” shortcut risk EDA always flags on PlantVillage.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MODEL 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3442273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METHODOLOGY ·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600" b="1">
                <a:solidFill>
                  <a:srgbClr val="1D2B1F"/>
                </a:solidFill>
                <a:latin typeface="Georgia"/>
              </a:rPr>
              <a:t>Proving the architecture choice,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A4A3C"/>
                </a:solidFill>
                <a:latin typeface="Segoe UI"/>
              </a:rPr>
              <a:t>The production log only captures a few epochs, so a separate benchmark study trains two different architectures from first principles — a from-scratch VGG-style CNN vs. a pretrained EfficientNetB3 transfer-learning model (not the residual CNN or CBAM CNN shown on the previous slide) — on a clean, leakage-checked 70/15/15 split of a 15-class PlantVillage subset (pepper, potato, tomato · 20,624 images), scored against a full evaluation suite instead of accuracy alone.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971800"/>
          <a:ext cx="7452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0916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>
                    <a:solidFill>
                      <a:srgbClr val="1D2B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Why it's here</a:t>
                      </a:r>
                    </a:p>
                  </a:txBody>
                  <a:tcPr anchor="ctr">
                    <a:solidFill>
                      <a:srgbClr val="1D2B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the headline number — but flattered by class imbalance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Balanced accuracy / macro-F1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treats a 152-image class as equal to a 3,200-image one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Top-3 accuracy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useful for a UI that could surface three candidate diagnoses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Cohen's κ / MCC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agreement corrected for chance; robust under skew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ROC-AUC / PR-AUC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threshold-free ranking quality, one-vs-rest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Log-loss / calibration (ECE)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is the model's confidence trustworthy, not just its top guess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2971800"/>
            <a:ext cx="3429000" cy="10515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3118104"/>
            <a:ext cx="3063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Zero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538728"/>
            <a:ext cx="3063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Train/val/test share no files — checked by exact set intersection before training started.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42232"/>
            <a:ext cx="3429000" cy="10515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4288536"/>
            <a:ext cx="3063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0.07% duplicates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709160"/>
            <a:ext cx="3063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14 exact-duplicate images found by hash across 20,638 files, all removed before splitting.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5312664"/>
            <a:ext cx="3429000" cy="10515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5458968"/>
            <a:ext cx="3063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21.1× imbalance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879592"/>
            <a:ext cx="3063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Largest class had 3,208 images, smallest 152 — handled with per-class loss weighting.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BENCHMARK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Head-to-head on the held-out test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1" y="1691640"/>
            <a:ext cx="8931410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Across every metric — accuracy, balanced accuracy, macro/weighted F1, top-3, ROC-AUC, PR-AUC, MCC — the custom CNN leads.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HEAD-TO-HEAD ON THE HELD-OUT TEST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Confusion matrix — Custom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_confusion_custom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43" y="1691640"/>
            <a:ext cx="10218466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Errors cluster on genuinely similar-looking pairs: Tomato mosaic virus and Target Spot both get mistaken for spider-mite damage.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CONFUSION MATRIX — CUSTOM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Is the model's confidence trustworthy?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_confide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52668"/>
            <a:ext cx="10543032" cy="2947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Expected Calibration Error 0.031 — when it says “90% confident,” it's right about 90% of the time; the risk-coverage curve shows where to route uncertain cases to a human.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IS THE MODEL'S CONFIDENCE TRUSTWORTHY?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3182701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D2B1F"/>
                </a:solidFill>
                <a:latin typeface="Georgia"/>
              </a:rPr>
              <a:t>Three predictions,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60704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3A4A3C"/>
                </a:solidFill>
                <a:latin typeface="Segoe UI"/>
              </a:rPr>
              <a:t>Held-out test images the model never trained on, run through the full predict-and-rank pipeline — image in, top-5 probabilities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40680" cy="1874519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_demo_tomato_late_b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656" y="2212848"/>
            <a:ext cx="3815208" cy="14173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648455"/>
            <a:ext cx="5166360" cy="2926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Ground truth: Tomato · Late blight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03120"/>
            <a:ext cx="5440680" cy="1874519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8_demo_pepper_bacterial_sp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87" y="2212848"/>
            <a:ext cx="3977545" cy="14173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3648455"/>
            <a:ext cx="5166360" cy="2926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Ground truth: Pepper (bell) · Bacterial spot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60520"/>
            <a:ext cx="5440680" cy="1874519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9_demo_tomato_ylc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4388" y="4270248"/>
            <a:ext cx="3957743" cy="14173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5705855"/>
            <a:ext cx="5166360" cy="2926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Ground truth: Tomato · Yellow Leaf Curl Virus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160520"/>
            <a:ext cx="5440680" cy="187451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A3C"/>
                </a:solidFill>
                <a:latin typeface="Segoe UI"/>
              </a:rPr>
              <a:t>All three ground-truth labels land in the model's top prediction — the third case (Yellow Leaf Curl Virus) shows the lower-confidence, multi-candidate behaviour that a top-3 UI is built for.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LIVE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274201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Inside the Streamlit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938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324612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Introduces the tool, shows the interface, and links onward to the recognition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78308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192938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About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2350008"/>
            <a:ext cx="324612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Documents the dataset — 87,900 images, 38 classes — and lists every crop and condition in a searchable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78308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0456" y="192938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Disease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2350008"/>
            <a:ext cx="324612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working tool: upload a photo, get a prediction and a full Hindi treatment card.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520440"/>
            <a:ext cx="5486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D2B1F"/>
                </a:solidFill>
                <a:latin typeface="Georgia"/>
              </a:rPr>
              <a:t>One inference call, five steps: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Upload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jpg / 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Resize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224×224 + normalise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Forward pass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residual CNN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Argmax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over 38 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Treatment card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in Hindi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9120" y="519684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12064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BFEA4B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3218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Same design system, end to end. </a:t>
            </a:r>
            <a:r>
              <a:rPr sz="1300" b="0">
                <a:solidFill>
                  <a:srgbClr val="1D2B1F"/>
                </a:solidFill>
                <a:latin typeface="Segoe UI"/>
              </a:rPr>
              <a:t>This deck reuses the CauseHouse system already shipped in App.py — cream &amp; forest-ink palette, serif display + clean sans body, pill-radius buttons, and the hard offset-shadow “sticker” cards used for the app's own prediction result.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IMPLEMENTATION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014629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KEY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What this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4767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7452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Accurate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8541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95.5% test accuracy and 94.6% macro-F1 on the benchmarked architecture family, with the production model tracking the same result on the full 38-class dataset.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4320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90779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3464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4553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3.7 ms per image — well under what's needed for the prediction to feel instant inside the browser.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86791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Understandable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0565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Hindi-language cause, symptoms, and organic + chemical treatment for every one of the 38 classes — not just a label.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6344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82803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5488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Honest about 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06577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Calibrated probabilities (ECE 0.031) mean the app's confidence score is trustworthy enough to act on, not just decorative.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2356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578815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71500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Portable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602589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benchmark pipeline exports to fp16 TFLite at ≈22 MB with under 1 pp accuracy loss — a clear path to an offline mobile app.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KEY OUTCOMES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4091202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READING THE RESULTS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What this isn't —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6B5D"/>
                </a:solidFill>
                <a:latin typeface="Georgia"/>
              </a:rPr>
              <a:t>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12848"/>
            <a:ext cx="5157216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2B1F"/>
                </a:solidFill>
                <a:latin typeface="Segoe UI"/>
              </a:rPr>
              <a:t>Lab photos, not field photos.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23744"/>
            <a:ext cx="5157216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PlantVillage leaves are cropped, centred, and shot on a plain background. Published research shows models trained on it can drop to 30–50% accuracy on real field images. The benchmark numbers are a ceiling, not a deployment guarantee — and that benchmark only covers 3 of 14 crops, not the full 38-class production 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56432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566160"/>
            <a:ext cx="5157216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2B1F"/>
                </a:solidFill>
                <a:latin typeface="Segoe UI"/>
              </a:rPr>
              <a:t>No “is this even a leaf?” 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877056"/>
            <a:ext cx="5157216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A 38-way softmax will confidently classify a shoe. An out-of-distribution guard belongs in front of the classifier before this goes further.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9744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919472"/>
            <a:ext cx="5157216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2B1F"/>
                </a:solidFill>
                <a:latin typeface="Segoe UI"/>
              </a:rPr>
              <a:t>Two models, one shipped.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230368"/>
            <a:ext cx="5157216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The CBAM attention variant is built and saved but not yet wired into App.py or benchmarked head-to-head with the residual CNN on the full 38-class 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737360"/>
            <a:ext cx="5394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6B5D"/>
                </a:solidFill>
                <a:latin typeface="Georgia"/>
              </a:rPr>
              <a:t>Next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10312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24942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Validate on field-collected photos before trusting the accuracy number publicly.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10896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325526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Wire the CBAM variant into the app and benchmark it against the residual CNN on all 38 classes.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1480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26110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Add a confidence threshold that routes uncertain photos to “try another photo” instead of guessing.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12064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526694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Ship the TFLite export for offline use on low-connectivity farms.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HONEST READ &amp; ROADMAP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625272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965960"/>
            <a:ext cx="1005840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D2B1F"/>
                </a:solidFill>
                <a:latin typeface="Georgia"/>
              </a:rPr>
              <a:t>Questions, feedback, field data — all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37560"/>
            <a:ext cx="960120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3A4A3C"/>
                </a:solidFill>
                <a:latin typeface="Segoe UI"/>
              </a:rPr>
              <a:t>This deck, the app, and the treatment database all live in the same repository. If you have field-collected photos or agronomy corrections, they make the next version better. The full benchmark walkthrough follows as an appendix.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B6B5D"/>
                </a:solidFill>
                <a:latin typeface="Segoe UI"/>
              </a:rPr>
              <a:t>Saksham Agrawal   ·   </a:t>
            </a:r>
            <a:r>
              <a:rPr sz="1300" b="0">
                <a:solidFill>
                  <a:srgbClr val="5B6B5D"/>
                </a:solidFill>
                <a:latin typeface="Segoe UI"/>
              </a:rPr>
              <a:t>Repository: cropDisease   ·   </a:t>
            </a:r>
            <a:r>
              <a:rPr sz="1300" b="0">
                <a:solidFill>
                  <a:srgbClr val="5B6B5D"/>
                </a:solidFill>
                <a:latin typeface="Segoe UI"/>
              </a:rPr>
              <a:t>PyTorch · Streamlit · CauseHouse design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625272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965960"/>
            <a:ext cx="1005840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D2B1F"/>
                </a:solidFill>
                <a:latin typeface="Georgia"/>
              </a:rPr>
              <a:t>Appendix — full benchmark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37560"/>
            <a:ext cx="960120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3A4A3C"/>
                </a:solidFill>
                <a:latin typeface="Segoe UI"/>
              </a:rPr>
              <a:t>Every EDA chart, learning curve, confusion matrix, and metrics table from the benchmark notebook, kept here for reference.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B6B5D"/>
                </a:solidFill>
                <a:latin typeface="Segoe UI"/>
              </a:rPr>
              <a:t>Saksham Agrawal   ·   </a:t>
            </a:r>
            <a:r>
              <a:rPr sz="1300" b="0">
                <a:solidFill>
                  <a:srgbClr val="5B6B5D"/>
                </a:solidFill>
                <a:latin typeface="Segoe UI"/>
              </a:rPr>
              <a:t>Benchmark notebook: </a:t>
            </a:r>
            <a:r>
              <a:rPr sz="1300" b="0">
                <a:solidFill>
                  <a:srgbClr val="5B6B5D"/>
                </a:solidFill>
                <a:latin typeface="Segoe UI"/>
              </a:rPr>
              <a:t>plantvillage_disease_detection_ran.ipynb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Class distribution across the 15 benchmark diseases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607" y="1691640"/>
            <a:ext cx="8477737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Largest class 3,208 images, smallest 152 — a 21.1× spread: real, but moderate.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CLASS DISTRIBUTION ACROSS THE 15 BENCHMARK DISEASES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How skewed is skewed? The imbalance curve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mbalan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421" y="1691640"/>
            <a:ext cx="9730110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The Gini coefficient quantifies the gap from perfectly balanced classes — the gap that per-class loss weighting corrects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HOW SKEWED IS SKEWED? THE IMBALANCE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What the model actually sees — four samples per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sampl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738295" y="-1545336"/>
            <a:ext cx="2712362" cy="10543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Rotated 90° to fit — uniform framing across every class is why field photos need separate validation (see slide 30).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WHAT THE MODEL ACTUALLY SEES — FOUR SAMPLES PER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Are all 20,624 images even the same shape?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solution_file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77961"/>
            <a:ext cx="10543032" cy="28964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Every image resolves to 256×256 RGB — resizing to the 224px model input costs almost nothing and distorts no class more than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ARE ALL 20,624 IMAGES EVEN THE SAME SHAPE?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Colour and brightness — signal, or shortcut?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colour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934" y="1691640"/>
            <a:ext cx="6815084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Per-channel intensity overlaps heavily across classes, so this isn't a task a colour histogram could solve alone — convolutional features are warranted.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COLOUR AND BRIGHTNESS — SIGNAL, OR SHORTCUT?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The mean image per class — checking for a background shortcut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ean_image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185" y="1691640"/>
            <a:ext cx="6540581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A shared centred-leaf-on-grey-background composition across every class — a known PlantVillage limitation, addressed on the roadmap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THE MEAN IMAGE PER CLASS — CHECKING FOR A BACKGROUND SHORTCUT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663558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Stratified 70 / 15 / 15 — verified, not assumed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spli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93291"/>
            <a:ext cx="10543032" cy="3865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Every class keeps its proportions across all three splits; dashed lines mark the 70% and 85% cumulative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STRATIFIED 70 / 15 / 15 — VERIFIED, NOT ASSUMED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052916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Augmentation — the label has to survive the transform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augmen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264" y="1691640"/>
            <a:ext cx="10284423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Row 1: originals. Rows 2–3: flipped, rotated, zoomed and colour-jittered views used only for the training split.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AUGMENTATION — THE LABEL HAS TO SURVIVE THE TRANSFORM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052916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Learning curves — Custom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curves_custom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23231"/>
            <a:ext cx="10543032" cy="2205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Final train/validation accuracy gap +4.2 pp — mild overfitting, reined in by early stopping on validation loss.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LEARNING CURVES — CUSTOM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052916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Learning curves — EfficientNetB3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curves_efficientnet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24741"/>
            <a:ext cx="10543032" cy="22028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Shaded region marks stage 2 (fine-tuning); train/val gap −2.0 pp — a healthier fit than the from-scratch CNN, at a lower ceiling.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LEARNING CURVES — EFFICIENTNETB3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Confusion matrix — EfficientNetB3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_confusion_efficientnet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43" y="1691640"/>
            <a:ext cx="10218466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Same confusion pattern, higher volume — e.g. 40 Target Spot images mistaken for spider-mite damage, versus 15 for the custom CNN.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CONFUSION MATRIX — EFFICIENTNETB3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Per-class precision, recall and F1 — Custom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2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68964"/>
            <a:ext cx="10543032" cy="391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Tomato mosaic virus: perfect precision (1.000) but the weakest recall (0.732) — the model is cautious about calling it, and misses some real cases.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PER-CLASS PRECISION, RECALL AND F1 — CUSTOM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ROC and precision–recall curves, one-vs-rest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57" y="1691640"/>
            <a:ext cx="9961837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Macro ROC-AUC of 0.999 — near-perfect ranking quality even for the rarest classes.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ROC AND PRECISION–RECALL CURVES, ONE-VS-REST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The most confident mistakes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_error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584" y="1691640"/>
            <a:ext cx="5165784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Ranked by confidence — these are the images worth a second human look, not random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THE MOST CONFIDENT MISTAKES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6570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APPENDIX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D2B1F"/>
                </a:solidFill>
                <a:latin typeface="Georgia"/>
              </a:rPr>
              <a:t>Every benchmark metric, side by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0020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01752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109728" marR="109728">
                    <a:solidFill>
                      <a:srgbClr val="1D2B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Custom CNN</a:t>
                      </a:r>
                    </a:p>
                  </a:txBody>
                  <a:tcPr anchor="ctr" marL="109728" marR="109728">
                    <a:solidFill>
                      <a:srgbClr val="1D2B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EfficientNetB3</a:t>
                      </a:r>
                    </a:p>
                  </a:txBody>
                  <a:tcPr anchor="ctr" marL="109728" marR="109728">
                    <a:solidFill>
                      <a:srgbClr val="1D2B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95.51%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87.10%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Balanced accuracy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94.86%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88.06%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Macro-F1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94.59%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86.92%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Weighted F1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95.52%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87.12%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Top-3 accuracy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99.81%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97.41%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Cohen's κ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0.951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0.859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MCC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0.951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0.861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ROC-AUC (macro)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0.999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0.993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PR-AUC (macro)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0.991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0.946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Log-loss (lower is better)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0.166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0.444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Inference speed, ms / image (lower is better)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3.7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8.5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B5D"/>
                </a:solidFill>
                <a:latin typeface="Segoe UI"/>
              </a:rPr>
              <a:t>Cross-check: the same residual architecture, retrained on the full 38-class production dataset, reached 94.1% validation accuracy in its very first training epoch.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APPENDIX  · 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